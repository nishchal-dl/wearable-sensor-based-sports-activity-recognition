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67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Windows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8583A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8AAD-46D1-9BD5-5C08673D6488}"/>
              </c:ext>
            </c:extLst>
          </c:dPt>
          <c:dPt>
            <c:idx val="1"/>
            <c:bubble3D val="0"/>
            <c:spPr>
              <a:solidFill>
                <a:srgbClr val="3F8FA6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8AAD-46D1-9BD5-5C08673D6488}"/>
              </c:ext>
            </c:extLst>
          </c:dPt>
          <c:dPt>
            <c:idx val="2"/>
            <c:bubble3D val="0"/>
            <c:spPr>
              <a:solidFill>
                <a:srgbClr val="D69A22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5-8AAD-46D1-9BD5-5C08673D6488}"/>
              </c:ext>
            </c:extLst>
          </c:dPt>
          <c:dPt>
            <c:idx val="3"/>
            <c:bubble3D val="0"/>
            <c:spPr>
              <a:solidFill>
                <a:srgbClr val="12262B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7-8AAD-46D1-9BD5-5C08673D6488}"/>
              </c:ext>
            </c:extLst>
          </c:dPt>
          <c:cat>
            <c:strRef>
              <c:f>Sheet1!$A$2:$A$5</c:f>
              <c:strCache>
                <c:ptCount val="4"/>
                <c:pt idx="0">
                  <c:v>Train 41%</c:v>
                </c:pt>
                <c:pt idx="1">
                  <c:v>Validation 9%</c:v>
                </c:pt>
                <c:pt idx="2">
                  <c:v>Test 9%</c:v>
                </c:pt>
                <c:pt idx="3">
                  <c:v>Production 40%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4253</c:v>
                </c:pt>
                <c:pt idx="1">
                  <c:v>956</c:v>
                </c:pt>
                <c:pt idx="2">
                  <c:v>956</c:v>
                </c:pt>
                <c:pt idx="3">
                  <c:v>4156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8AAD-46D1-9BD5-5C08673D648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2262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7C8C90"/>
                </a:solidFill>
                <a:latin typeface="Arial"/>
              </a:defRPr>
            </a:pPr>
            <a:r>
              <a:rPr lang="en-GB" sz="1300" b="0" i="0" u="none" strike="noStrike">
                <a:solidFill>
                  <a:srgbClr val="7C8C90"/>
                </a:solidFill>
                <a:latin typeface="Arial"/>
              </a:rPr>
              <a:t>Test macro-F1  (gate threshold 0.850)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macro-F1</c:v>
                </c:pt>
              </c:strCache>
            </c:strRef>
          </c:tx>
          <c:spPr>
            <a:solidFill>
              <a:srgbClr val="7C8C9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780-448F-85A5-FB879F9882FD}"/>
              </c:ext>
            </c:extLst>
          </c:dPt>
          <c:dPt>
            <c:idx val="1"/>
            <c:invertIfNegative val="0"/>
            <c:bubble3D val="0"/>
            <c:spPr>
              <a:solidFill>
                <a:srgbClr val="E8583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780-448F-85A5-FB879F9882FD}"/>
              </c:ext>
            </c:extLst>
          </c:dPt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600" b="1" i="0" u="none" strike="noStrike">
                    <a:solidFill>
                      <a:srgbClr val="12262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Benchmark
(2-feature tree)</c:v>
                </c:pt>
                <c:pt idx="1">
                  <c:v>XGBoost
(pipeline)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0.28499999999999998</c:v>
                </c:pt>
                <c:pt idx="1">
                  <c:v>0.871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780-448F-85A5-FB879F9882F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2262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7C8C90"/>
                </a:solidFill>
                <a:latin typeface="Arial"/>
              </a:defRPr>
            </a:pPr>
            <a:r>
              <a:rPr lang="en-IN" sz="1300" b="0" i="0" u="none" strike="noStrike">
                <a:solidFill>
                  <a:srgbClr val="7C8C90"/>
                </a:solidFill>
                <a:latin typeface="Arial"/>
              </a:rPr>
              <a:t>Baseline vs production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 (test)</c:v>
                </c:pt>
              </c:strCache>
            </c:strRef>
          </c:tx>
          <c:spPr>
            <a:solidFill>
              <a:srgbClr val="7C8C90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0" i="0" u="none" strike="noStrike">
                    <a:solidFill>
                      <a:srgbClr val="12262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Macro-F1</c:v>
                </c:pt>
                <c:pt idx="1">
                  <c:v>Accuracy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0.871</c:v>
                </c:pt>
                <c:pt idx="1">
                  <c:v>0.88100000000000001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E56-40AF-8612-D3ECE0CA354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Production</c:v>
                </c:pt>
              </c:strCache>
            </c:strRef>
          </c:tx>
          <c:spPr>
            <a:solidFill>
              <a:srgbClr val="E8583A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0" i="0" u="none" strike="noStrike">
                    <a:solidFill>
                      <a:srgbClr val="12262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Macro-F1</c:v>
                </c:pt>
                <c:pt idx="1">
                  <c:v>Accuracy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0.83599999999999997</c:v>
                </c:pt>
                <c:pt idx="1">
                  <c:v>0.84399999999999997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E56-40AF-8612-D3ECE0CA354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2262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2262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43793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2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2011680"/>
            <a:ext cx="1051560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4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868680" y="3840480"/>
            <a:ext cx="896112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800" dirty="0">
                <a:solidFill>
                  <a:srgbClr val="D5DEDD"/>
                </a:solidFill>
              </a:defRPr>
            </a:lvl1pPr>
          </a:lstStyle>
          <a:p>
            <a:pPr marL="0" indent="0" algn="l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3F5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65760"/>
            <a:ext cx="1088136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C8C90"/>
                </a:solidFill>
              </a:rPr>
              <a:t>Wearable Sensor-Based Sports Activity Recognition  ·  AAI-540</a:t>
            </a:r>
            <a:endParaRPr lang="en-US" sz="1000" dirty="0"/>
          </a:p>
        </p:txBody>
      </p:sp>
      <p:sp>
        <p:nvSpPr>
          <p:cNvPr id="4" name="Text 1"/>
          <p:cNvSpPr>
            <a:spLocks noGrp="1"/>
          </p:cNvSpPr>
          <p:nvPr>
            <p:ph idx="102" hasCustomPrompt="1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r">
              <a:buNone/>
              <a:defRPr lang="en-US" sz="1000" dirty="0">
                <a:solidFill>
                  <a:srgbClr val="7C8C90"/>
                </a:solidFill>
              </a:defRPr>
            </a:lvl1pPr>
          </a:lstStyle>
          <a:p>
            <a:pPr marL="0" indent="0" algn="r">
              <a:buNone/>
            </a:pPr>
            <a:endParaRPr lang="en-US" sz="1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2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65760"/>
            <a:ext cx="1088136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3" name="Text 0"/>
          <p:cNvSpPr>
            <a:spLocks noGrp="1"/>
          </p:cNvSpPr>
          <p:nvPr>
            <p:ph idx="101" hasCustomPrompt="1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r">
              <a:buNone/>
              <a:defRPr lang="en-US" sz="1000" dirty="0">
                <a:solidFill>
                  <a:srgbClr val="7C8C90"/>
                </a:solidFill>
              </a:defRPr>
            </a:lvl1pPr>
          </a:lstStyle>
          <a:p>
            <a:pPr marL="0" indent="0" algn="r">
              <a:buNone/>
            </a:pP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3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3" Type="http://schemas.openxmlformats.org/officeDocument/2006/relationships/chart" Target="../charts/char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3" Type="http://schemas.openxmlformats.org/officeDocument/2006/relationships/chart" Target="../charts/char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868680" y="13258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583A"/>
                </a:solidFill>
              </a:rPr>
              <a:t>AAI-540  ·  MACHINE LEARNING OPERATIONS</a:t>
            </a:r>
            <a:endParaRPr lang="en-US" sz="13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2011680"/>
            <a:ext cx="105156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Wearable Sensor-Based</a:t>
            </a:r>
            <a:endParaRPr lang="en-US" sz="4600" dirty="0"/>
          </a:p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Sports Activity Recognition</a:t>
            </a:r>
            <a:endParaRPr lang="en-US" sz="4600" dirty="0"/>
          </a:p>
        </p:txBody>
      </p:sp>
      <p:sp>
        <p:nvSpPr>
          <p:cNvPr id="5" name="Text 0"/>
          <p:cNvSpPr>
            <a:spLocks noGrp="1"/>
          </p:cNvSpPr>
          <p:nvPr>
            <p:ph type="body" idx="101" hasCustomPrompt="1"/>
          </p:nvPr>
        </p:nvSpPr>
        <p:spPr>
          <a:xfrm>
            <a:off x="868680" y="3840480"/>
            <a:ext cx="89611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D5DEDD"/>
                </a:solidFill>
              </a:rPr>
              <a:t>Predicting what someone is doing and how hard they are working from wrist, chest and ankle sensors and heart rate, delivered as a production ML pipeline on AWS SageMaker.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868680" y="4745736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1D3A4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68680" y="474573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5DEDD"/>
                </a:solidFill>
              </a:rPr>
              <a:t>PAMAP2 dataset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926080" y="4745736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1D3A4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926080" y="4745736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5DEDD"/>
                </a:solidFill>
              </a:rPr>
              <a:t>9 subjects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617720" y="4745736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1D3A4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617720" y="474573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5DEDD"/>
                </a:solidFill>
              </a:rPr>
              <a:t>18 activities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492240" y="4745736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1D3A4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492240" y="474573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5DEDD"/>
                </a:solidFill>
              </a:rPr>
              <a:t>AWS SageMaker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868680" y="5532120"/>
            <a:ext cx="47656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7C8C90"/>
                </a:solidFill>
              </a:rPr>
              <a:t>Group 5  ·  Manideep Reddy, Nishchal P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6576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Raw sensor streams don’t say what someone did, or how hard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417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E8583A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783080"/>
            <a:ext cx="5852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2262B"/>
                </a:solidFill>
              </a:rPr>
              <a:t>Wearables output signal, not meaning. Training logs, safety monitoring and personalized feedback need an automatic read on what a person is doing and how intense it is, from the raw stream, without manual review.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3474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E8583A"/>
                </a:solidFill>
              </a:rPr>
              <a:t>WHAT THE MODEL PREDICTS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40080" y="3840480"/>
            <a:ext cx="283464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3DADA"/>
            </a:solidFill>
            <a:prstDash val="solid"/>
          </a:ln>
          <a:effectLst>
            <a:outerShdw blurRad="76200" dist="25400" dir="5400000" algn="bl" rotWithShape="0">
              <a:srgbClr val="12262B">
                <a:alpha val="16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822960" y="388620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262B"/>
                </a:solidFill>
              </a:rPr>
              <a:t>Activity
</a:t>
            </a:r>
            <a:r>
              <a:rPr lang="en-US" sz="1250" dirty="0">
                <a:solidFill>
                  <a:srgbClr val="7C8C90"/>
                </a:solidFill>
              </a:rPr>
              <a:t>18-class label per window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3611880" y="3840480"/>
            <a:ext cx="28803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3DADA"/>
            </a:solidFill>
            <a:prstDash val="solid"/>
          </a:ln>
          <a:effectLst>
            <a:outerShdw blurRad="76200" dist="25400" dir="5400000" algn="bl" rotWithShape="0">
              <a:srgbClr val="12262B">
                <a:alpha val="16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3794760" y="388620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262B"/>
                </a:solidFill>
              </a:rPr>
              <a:t>Intensity
</a:t>
            </a:r>
            <a:r>
              <a:rPr lang="en-US" sz="1250" dirty="0">
                <a:solidFill>
                  <a:srgbClr val="7C8C90"/>
                </a:solidFill>
              </a:rPr>
              <a:t>light / moderate / vigorous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516636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7C8C90"/>
                </a:solidFill>
              </a:rPr>
              <a:t>Supervised multi-class classification on multivariate time series (Human Activity Recognition).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949440" y="1417320"/>
            <a:ext cx="21945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3DADA"/>
            </a:solidFill>
            <a:prstDash val="solid"/>
          </a:ln>
          <a:effectLst>
            <a:outerShdw blurRad="76200" dist="25400" dir="5400000" algn="bl" rotWithShape="0">
              <a:srgbClr val="12262B">
                <a:alpha val="16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7114032" y="1508760"/>
            <a:ext cx="1865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200" b="1" dirty="0">
                <a:solidFill>
                  <a:srgbClr val="12262B"/>
                </a:solidFill>
              </a:rPr>
              <a:t>100 Hz</a:t>
            </a:r>
            <a:endParaRPr lang="en-US" sz="3200" dirty="0"/>
          </a:p>
        </p:txBody>
      </p:sp>
      <p:sp>
        <p:nvSpPr>
          <p:cNvPr id="14" name="Text 11"/>
          <p:cNvSpPr txBox="1"/>
          <p:nvPr/>
        </p:nvSpPr>
        <p:spPr>
          <a:xfrm>
            <a:off x="7114032" y="2350008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kern="0" spc="100" dirty="0">
                <a:solidFill>
                  <a:srgbClr val="7C8C90"/>
                </a:solidFill>
              </a:rPr>
              <a:t>SENSOR SAMPLING RATE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9326880" y="1417320"/>
            <a:ext cx="21945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3DADA"/>
            </a:solidFill>
            <a:prstDash val="solid"/>
          </a:ln>
          <a:effectLst>
            <a:outerShdw blurRad="76200" dist="25400" dir="5400000" algn="bl" rotWithShape="0">
              <a:srgbClr val="12262B">
                <a:alpha val="16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9491472" y="1508760"/>
            <a:ext cx="1865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200" b="1" dirty="0">
                <a:solidFill>
                  <a:srgbClr val="12262B"/>
                </a:solidFill>
              </a:rPr>
              <a:t>3.85M</a:t>
            </a:r>
            <a:endParaRPr lang="en-US" sz="3200" dirty="0"/>
          </a:p>
        </p:txBody>
      </p:sp>
      <p:sp>
        <p:nvSpPr>
          <p:cNvPr id="17" name="Text 14"/>
          <p:cNvSpPr txBox="1"/>
          <p:nvPr/>
        </p:nvSpPr>
        <p:spPr>
          <a:xfrm>
            <a:off x="9491472" y="2350008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kern="0" spc="100" dirty="0">
                <a:solidFill>
                  <a:srgbClr val="7C8C90"/>
                </a:solidFill>
              </a:rPr>
              <a:t>LABELED RAW ROWS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949440" y="3063240"/>
            <a:ext cx="21945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3DADA"/>
            </a:solidFill>
            <a:prstDash val="solid"/>
          </a:ln>
          <a:effectLst>
            <a:outerShdw blurRad="76200" dist="25400" dir="5400000" algn="bl" rotWithShape="0">
              <a:srgbClr val="12262B">
                <a:alpha val="16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7114032" y="3154680"/>
            <a:ext cx="1865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200" b="1" dirty="0">
                <a:solidFill>
                  <a:srgbClr val="E8583A"/>
                </a:solidFill>
              </a:rPr>
              <a:t>9</a:t>
            </a:r>
            <a:endParaRPr lang="en-US" sz="3200" dirty="0"/>
          </a:p>
        </p:txBody>
      </p:sp>
      <p:sp>
        <p:nvSpPr>
          <p:cNvPr id="20" name="Text 17"/>
          <p:cNvSpPr txBox="1"/>
          <p:nvPr/>
        </p:nvSpPr>
        <p:spPr>
          <a:xfrm>
            <a:off x="7114032" y="3995928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kern="0" spc="100" dirty="0">
                <a:solidFill>
                  <a:srgbClr val="7C8C90"/>
                </a:solidFill>
              </a:rPr>
              <a:t>SUBJECTS, SO GENERALIZATION IS THE HARD PART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9326880" y="3063240"/>
            <a:ext cx="21945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3DADA"/>
            </a:solidFill>
            <a:prstDash val="solid"/>
          </a:ln>
          <a:effectLst>
            <a:outerShdw blurRad="76200" dist="25400" dir="5400000" algn="bl" rotWithShape="0">
              <a:srgbClr val="12262B">
                <a:alpha val="16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9491472" y="3154680"/>
            <a:ext cx="1865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200" b="1" dirty="0">
                <a:solidFill>
                  <a:srgbClr val="12262B"/>
                </a:solidFill>
              </a:rPr>
              <a:t>18</a:t>
            </a:r>
            <a:endParaRPr lang="en-US" sz="3200" dirty="0"/>
          </a:p>
        </p:txBody>
      </p:sp>
      <p:sp>
        <p:nvSpPr>
          <p:cNvPr id="23" name="Text 20"/>
          <p:cNvSpPr txBox="1"/>
          <p:nvPr/>
        </p:nvSpPr>
        <p:spPr>
          <a:xfrm>
            <a:off x="9491472" y="3995928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kern="0" spc="100" dirty="0">
                <a:solidFill>
                  <a:srgbClr val="7C8C90"/>
                </a:solidFill>
              </a:rPr>
              <a:t>LABELED ACTIVITIES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6949440" y="4709160"/>
            <a:ext cx="4572000" cy="1188720"/>
          </a:xfrm>
          <a:prstGeom prst="roundRect">
            <a:avLst>
              <a:gd name="adj" fmla="val 7692"/>
            </a:avLst>
          </a:prstGeom>
          <a:solidFill>
            <a:srgbClr val="12262B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7178040" y="480060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4EBEA"/>
                </a:solidFill>
              </a:rPr>
              <a:t>Primary metric: macro-F1. Class imbalance (transient activity dominates) makes plain accuracy misleading.</a:t>
            </a:r>
            <a:endParaRPr lang="en-US" sz="1350" dirty="0"/>
          </a:p>
        </p:txBody>
      </p:sp>
      <p:sp>
        <p:nvSpPr>
          <p:cNvPr id="26" name="Text 1"/>
          <p:cNvSpPr>
            <a:spLocks noGrp="1"/>
          </p:cNvSpPr>
          <p:nvPr>
            <p:ph idx="102" hasCustomPrompt="1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r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6576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PAMAP2: a well-benchmarked, multimodal activity dataset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6949440" cy="438912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Attribute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Detail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2262B"/>
                          </a:solidFill>
                        </a:rPr>
                        <a:t>Source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2262B"/>
                          </a:solidFill>
                        </a:rPr>
                        <a:t>UCI ML Repository (id 231), DOI 10.24432/C5NW2H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2262B"/>
                          </a:solidFill>
                        </a:rPr>
                        <a:t>Volume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2262B"/>
                          </a:solidFill>
                        </a:rPr>
                        <a:t>3,850,505 instances, 54 columns, about 656 MB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2262B"/>
                          </a:solidFill>
                        </a:rPr>
                        <a:t>Coverage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2262B"/>
                          </a:solidFill>
                        </a:rPr>
                        <a:t>9 subjects, 18 labeled activities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2262B"/>
                          </a:solidFill>
                        </a:rPr>
                        <a:t>Sensors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2262B"/>
                          </a:solidFill>
                        </a:rPr>
                        <a:t>Accelerometer, gyroscope, magnetometer on hand / chest / ankle IMUs, plus heart rate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2262B"/>
                          </a:solidFill>
                        </a:rPr>
                        <a:t>Sampling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2262B"/>
                          </a:solidFill>
                        </a:rPr>
                        <a:t>100 Hz IMU, about 9 Hz heart rate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2262B"/>
                          </a:solidFill>
                        </a:rPr>
                        <a:t>Files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2262B"/>
                          </a:solidFill>
                        </a:rPr>
                        <a:t>Space-separated .dat, one per subject per session (Protocol and Optional)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2262B"/>
                          </a:solidFill>
                        </a:rPr>
                        <a:t>License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2262B"/>
                          </a:solidFill>
                        </a:rPr>
                        <a:t>CC BY 4.0; pseudonymous subject IDs 101–109; heart rate treated as health data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7909560" y="1463040"/>
            <a:ext cx="3611880" cy="4389120"/>
          </a:xfrm>
          <a:prstGeom prst="roundRect">
            <a:avLst>
              <a:gd name="adj" fmla="val 2532"/>
            </a:avLst>
          </a:prstGeom>
          <a:solidFill>
            <a:srgbClr val="12262B"/>
          </a:solidFill>
          <a:ln/>
          <a:effectLst>
            <a:outerShdw blurRad="76200" dist="25400" dir="5400000" algn="bl" rotWithShape="0">
              <a:srgbClr val="12262B">
                <a:alpha val="16000"/>
              </a:srgbClr>
            </a:outerShdw>
          </a:effectLst>
        </p:spPr>
      </p:sp>
      <p:sp>
        <p:nvSpPr>
          <p:cNvPr id="6" name="Text 2"/>
          <p:cNvSpPr txBox="1"/>
          <p:nvPr/>
        </p:nvSpPr>
        <p:spPr>
          <a:xfrm>
            <a:off x="8183880" y="16916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E8583A"/>
                </a:solidFill>
              </a:rPr>
              <a:t>WHY THIS DATASET</a:t>
            </a:r>
            <a:endParaRPr lang="en-US" sz="1100" dirty="0"/>
          </a:p>
        </p:txBody>
      </p:sp>
      <p:sp>
        <p:nvSpPr>
          <p:cNvPr id="7" name="Text 3"/>
          <p:cNvSpPr txBox="1"/>
          <p:nvPr/>
        </p:nvSpPr>
        <p:spPr>
          <a:xfrm>
            <a:off x="8183880" y="210312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1100"/>
              </a:spcAft>
              <a:buSzPct val="100000"/>
              <a:buChar char="●"/>
            </a:pPr>
            <a:r>
              <a:rPr lang="en-US" sz="1400" dirty="0">
                <a:solidFill>
                  <a:srgbClr val="E4EBEA"/>
                </a:solidFill>
              </a:rPr>
              <a:t>One of few public wearable sets that is fully labelled across sports and daily activities</a:t>
            </a:r>
            <a:endParaRPr lang="en-US" sz="1400" dirty="0"/>
          </a:p>
          <a:p>
            <a:pPr marL="342900" indent="-342900">
              <a:lnSpc>
                <a:spcPct val="110000"/>
              </a:lnSpc>
              <a:spcAft>
                <a:spcPts val="1100"/>
              </a:spcAft>
              <a:buSzPct val="100000"/>
              <a:buChar char="●"/>
            </a:pPr>
            <a:r>
              <a:rPr lang="en-US" sz="1400" dirty="0">
                <a:solidFill>
                  <a:srgbClr val="E4EBEA"/>
                </a:solidFill>
              </a:rPr>
              <a:t>Heart rate alongside 3 IMUs links movement to exertion</a:t>
            </a:r>
            <a:endParaRPr lang="en-US" sz="1400" dirty="0"/>
          </a:p>
          <a:p>
            <a:pPr marL="342900" indent="-342900">
              <a:lnSpc>
                <a:spcPct val="110000"/>
              </a:lnSpc>
              <a:spcAft>
                <a:spcPts val="1100"/>
              </a:spcAft>
              <a:buSzPct val="100000"/>
              <a:buChar char="●"/>
            </a:pPr>
            <a:r>
              <a:rPr lang="en-US" sz="1400" dirty="0">
                <a:solidFill>
                  <a:srgbClr val="E4EBEA"/>
                </a:solidFill>
              </a:rPr>
              <a:t>Published results near 0.85 macro-F1 give a clear target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8183880" y="457200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D69A22"/>
                </a:solidFill>
              </a:rPr>
              <a:t>Limitation: 9 lab subjects, mostly young adults, only 1 female. Disclosed in the risk section.</a:t>
            </a:r>
            <a:endParaRPr lang="en-US" sz="1250" dirty="0"/>
          </a:p>
        </p:txBody>
      </p:sp>
      <p:sp>
        <p:nvSpPr>
          <p:cNvPr id="9" name="Text 1"/>
          <p:cNvSpPr>
            <a:spLocks noGrp="1"/>
          </p:cNvSpPr>
          <p:nvPr>
            <p:ph idx="102" hasCustomPrompt="1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r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6576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 architecture on AWS SageMaker</a:t>
            </a:r>
            <a:endParaRPr lang="en-US" sz="3000" dirty="0"/>
          </a:p>
        </p:txBody>
      </p:sp>
      <p:sp>
        <p:nvSpPr>
          <p:cNvPr id="27" name="Text 1"/>
          <p:cNvSpPr>
            <a:spLocks noGrp="1"/>
          </p:cNvSpPr>
          <p:nvPr>
            <p:ph idx="102" hasCustomPrompt="1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r">
              <a:buNone/>
            </a:pPr>
            <a:endParaRPr lang="en-US" sz="1000" dirty="0"/>
          </a:p>
        </p:txBody>
      </p:sp>
      <p:pic>
        <p:nvPicPr>
          <p:cNvPr id="28" name="Picture 27" descr="sol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8360" y="1188720"/>
            <a:ext cx="795528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6576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engineering: from raw files to model-ready windows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640080" y="150876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D3DADA"/>
            </a:solidFill>
            <a:prstDash val="solid"/>
          </a:ln>
          <a:effectLst>
            <a:outerShdw blurRad="76200" dist="25400" dir="5400000" algn="bl" rotWithShape="0">
              <a:srgbClr val="12262B">
                <a:alpha val="16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822960" y="16459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5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 Ingest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19456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2262B"/>
                </a:solidFill>
              </a:rPr>
              <a:t>Parse 54 columns against a fixed schema, drop 12 invalid orientation columns, land raw .dat and curated Parquet in S3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429000" y="150876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D3DADA"/>
            </a:solidFill>
            <a:prstDash val="solid"/>
          </a:ln>
          <a:effectLst>
            <a:outerShdw blurRad="76200" dist="25400" dir="5400000" algn="bl" rotWithShape="0">
              <a:srgbClr val="12262B">
                <a:alpha val="16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3611880" y="16459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5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 Clean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3611880" y="219456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2262B"/>
                </a:solidFill>
              </a:rPr>
              <a:t>Forward-fill / interpolate sparse heart rate (~91% missing at 100 Hz), split sessions at gaps &gt; 0.1 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217920" y="150876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D3DADA"/>
            </a:solidFill>
            <a:prstDash val="solid"/>
          </a:ln>
          <a:effectLst>
            <a:outerShdw blurRad="76200" dist="25400" dir="5400000" algn="bl" rotWithShape="0">
              <a:srgbClr val="12262B">
                <a:alpha val="16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6400800" y="16459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5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 Window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6400800" y="219456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2262B"/>
                </a:solidFill>
              </a:rPr>
              <a:t>512 samples (5.12 s), 50% overlap: 10,639 windows across 14 subject-session files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9006840" y="150876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D3DADA"/>
            </a:solidFill>
            <a:prstDash val="solid"/>
          </a:ln>
          <a:effectLst>
            <a:outerShdw blurRad="76200" dist="25400" dir="5400000" algn="bl" rotWithShape="0">
              <a:srgbClr val="12262B">
                <a:alpha val="16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9189720" y="16459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5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 Label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9189720" y="219456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2262B"/>
                </a:solidFill>
              </a:rPr>
              <a:t>Majority-vote activity per window; windows labelled transient (0) dropped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640080" y="4160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E8583A"/>
                </a:solidFill>
              </a:rPr>
              <a:t>EXPLORED WITH ATHENA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640080" y="4526280"/>
            <a:ext cx="5760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1100"/>
              </a:spcAft>
              <a:buSzPct val="100000"/>
              <a:buChar char="●"/>
            </a:pPr>
            <a:r>
              <a:rPr lang="en-US" sz="1400" dirty="0">
                <a:solidFill>
                  <a:srgbClr val="12262B"/>
                </a:solidFill>
              </a:rPr>
              <a:t>Class distribution: transient activity 0 is 1.13M of 3.85M rows; per-subject activity coverage; heart-rate missingness</a:t>
            </a:r>
            <a:endParaRPr lang="en-US" sz="1400" dirty="0"/>
          </a:p>
          <a:p>
            <a:pPr marL="342900" indent="-342900">
              <a:lnSpc>
                <a:spcPct val="110000"/>
              </a:lnSpc>
              <a:spcAft>
                <a:spcPts val="1100"/>
              </a:spcAft>
              <a:buSzPct val="100000"/>
              <a:buChar char="●"/>
            </a:pPr>
            <a:r>
              <a:rPr lang="en-US" sz="1400" dirty="0">
                <a:solidFill>
                  <a:srgbClr val="12262B"/>
                </a:solidFill>
              </a:rPr>
              <a:t>Findings drove two decisions: drop the transient label, and use macro-F1 because several activities are missing for some subjects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766560" y="4160520"/>
            <a:ext cx="4754880" cy="2011680"/>
          </a:xfrm>
          <a:prstGeom prst="roundRect">
            <a:avLst>
              <a:gd name="adj" fmla="val 4545"/>
            </a:avLst>
          </a:prstGeom>
          <a:solidFill>
            <a:srgbClr val="12262B"/>
          </a:solidFill>
          <a:ln/>
          <a:effectLst>
            <a:outerShdw blurRad="76200" dist="25400" dir="5400000" algn="bl" rotWithShape="0">
              <a:srgbClr val="12262B">
                <a:alpha val="16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7040880" y="4343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E8583A"/>
                </a:solidFill>
              </a:rPr>
              <a:t>WINDOW GEOMETRY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7040880" y="470916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4EBEA"/>
                </a:solidFill>
              </a:rPr>
              <a:t>512 samples × 100 Hz = 5.12 s per window, stride 256 = 50% overlap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7040880" y="5532120"/>
            <a:ext cx="1828800" cy="201168"/>
          </a:xfrm>
          <a:prstGeom prst="rect">
            <a:avLst/>
          </a:prstGeom>
          <a:solidFill>
            <a:srgbClr val="E8583A"/>
          </a:solidFill>
          <a:ln w="6350">
            <a:solidFill>
              <a:srgbClr val="12262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321040" y="5788152"/>
            <a:ext cx="1828800" cy="201168"/>
          </a:xfrm>
          <a:prstGeom prst="rect">
            <a:avLst/>
          </a:prstGeom>
          <a:solidFill>
            <a:srgbClr val="3F8FA6"/>
          </a:solidFill>
          <a:ln w="6350">
            <a:solidFill>
              <a:srgbClr val="12262B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9601200" y="5532120"/>
            <a:ext cx="1828800" cy="201168"/>
          </a:xfrm>
          <a:prstGeom prst="rect">
            <a:avLst/>
          </a:prstGeom>
          <a:solidFill>
            <a:srgbClr val="E8583A"/>
          </a:solidFill>
          <a:ln w="6350">
            <a:solidFill>
              <a:srgbClr val="12262B"/>
            </a:solidFill>
            <a:prstDash val="solid"/>
          </a:ln>
        </p:spPr>
      </p:sp>
      <p:sp>
        <p:nvSpPr>
          <p:cNvPr id="24" name="Text 1"/>
          <p:cNvSpPr>
            <a:spLocks noGrp="1"/>
          </p:cNvSpPr>
          <p:nvPr>
            <p:ph idx="102" hasCustomPrompt="1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r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6576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Features and the intensity mapping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417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E8583A"/>
                </a:solidFill>
              </a:rPr>
              <a:t>128 FEATURES PER WINDOW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783080"/>
            <a:ext cx="51206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1100"/>
              </a:spcAft>
              <a:buSzPct val="100000"/>
              <a:buChar char="●"/>
            </a:pPr>
            <a:r>
              <a:rPr lang="en-US" sz="1450" dirty="0">
                <a:solidFill>
                  <a:srgbClr val="12262B"/>
                </a:solidFill>
              </a:rPr>
              <a:t>21 motion channels × 6 stats (mean, std, min, max, energy, dominant frequency) + HR mean and max</a:t>
            </a:r>
            <a:endParaRPr lang="en-US" sz="1450" dirty="0"/>
          </a:p>
          <a:p>
            <a:pPr marL="342900" indent="-342900">
              <a:lnSpc>
                <a:spcPct val="110000"/>
              </a:lnSpc>
              <a:spcAft>
                <a:spcPts val="1100"/>
              </a:spcAft>
              <a:buSzPct val="100000"/>
              <a:buChar char="●"/>
            </a:pPr>
            <a:r>
              <a:rPr lang="en-US" sz="1450" dirty="0">
                <a:solidFill>
                  <a:srgbClr val="12262B"/>
                </a:solidFill>
              </a:rPr>
              <a:t>±16g accelerometer (x, y, z, magnitude) and gyroscope (x, y, z) at hand, chest and ankle</a:t>
            </a:r>
            <a:endParaRPr lang="en-US" sz="1450" dirty="0"/>
          </a:p>
          <a:p>
            <a:pPr marL="342900" indent="-342900">
              <a:lnSpc>
                <a:spcPct val="110000"/>
              </a:lnSpc>
              <a:spcAft>
                <a:spcPts val="1100"/>
              </a:spcAft>
              <a:buSzPct val="100000"/>
              <a:buChar char="●"/>
            </a:pPr>
            <a:r>
              <a:rPr lang="en-US" sz="1450" dirty="0">
                <a:solidFill>
                  <a:srgbClr val="12262B"/>
                </a:solidFill>
              </a:rPr>
              <a:t>Heart rate forward-filled across gaps</a:t>
            </a:r>
            <a:endParaRPr lang="en-US" sz="1450" dirty="0"/>
          </a:p>
          <a:p>
            <a:pPr marL="342900" indent="-342900">
              <a:lnSpc>
                <a:spcPct val="110000"/>
              </a:lnSpc>
              <a:spcAft>
                <a:spcPts val="1100"/>
              </a:spcAft>
              <a:buSzPct val="100000"/>
              <a:buChar char="●"/>
            </a:pPr>
            <a:r>
              <a:rPr lang="en-US" sz="1450" dirty="0">
                <a:solidFill>
                  <a:srgbClr val="12262B"/>
                </a:solidFill>
              </a:rPr>
              <a:t>Excluded: orientation, ±6g accelerometer (saturates), magnetometer, temperature, subject ID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40080" y="4617720"/>
            <a:ext cx="5120640" cy="1463040"/>
          </a:xfrm>
          <a:prstGeom prst="roundRect">
            <a:avLst>
              <a:gd name="adj" fmla="val 6250"/>
            </a:avLst>
          </a:prstGeom>
          <a:solidFill>
            <a:srgbClr val="12262B"/>
          </a:solidFill>
          <a:ln/>
          <a:effectLst>
            <a:outerShdw blurRad="76200" dist="25400" dir="5400000" algn="bl" rotWithShape="0">
              <a:srgbClr val="12262B">
                <a:alpha val="16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68680" y="470916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4EBEA"/>
                </a:solidFill>
              </a:rPr>
              <a:t>Why frequency features: dominant frequency separates periodic activities (walking, running, rope jumping) from static ones that look similar in mean and variance.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172200" y="141732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3DADA"/>
            </a:solidFill>
            <a:prstDash val="solid"/>
          </a:ln>
          <a:effectLst>
            <a:outerShdw blurRad="76200" dist="25400" dir="5400000" algn="bl" rotWithShape="0">
              <a:srgbClr val="12262B">
                <a:alpha val="1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355080" y="1600200"/>
            <a:ext cx="274320" cy="274320"/>
          </a:xfrm>
          <a:prstGeom prst="ellipse">
            <a:avLst/>
          </a:prstGeom>
          <a:solidFill>
            <a:srgbClr val="2E8B63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766560" y="152704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62B"/>
                </a:solidFill>
              </a:rPr>
              <a:t>Light  (&lt; 3 METs)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6766560" y="196596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7C8C90"/>
                </a:solidFill>
              </a:rPr>
              <a:t>lying, sitting, standing, watching TV, computer work, car driving, ironing, folding laundry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172200" y="301752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3DADA"/>
            </a:solidFill>
            <a:prstDash val="solid"/>
          </a:ln>
          <a:effectLst>
            <a:outerShdw blurRad="76200" dist="25400" dir="5400000" algn="bl" rotWithShape="0">
              <a:srgbClr val="12262B">
                <a:alpha val="1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355080" y="3200400"/>
            <a:ext cx="274320" cy="274320"/>
          </a:xfrm>
          <a:prstGeom prst="ellipse">
            <a:avLst/>
          </a:prstGeom>
          <a:solidFill>
            <a:srgbClr val="D69A2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766560" y="312724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62B"/>
                </a:solidFill>
              </a:rPr>
              <a:t>Moderate  (3 to 6 METs)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6766560" y="356616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7C8C90"/>
                </a:solidFill>
              </a:rPr>
              <a:t>walking, cycling, descending stairs, vacuum cleaning, house cleaning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172200" y="461772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3DADA"/>
            </a:solidFill>
            <a:prstDash val="solid"/>
          </a:ln>
          <a:effectLst>
            <a:outerShdw blurRad="76200" dist="25400" dir="5400000" algn="bl" rotWithShape="0">
              <a:srgbClr val="12262B">
                <a:alpha val="16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355080" y="4800600"/>
            <a:ext cx="274320" cy="274320"/>
          </a:xfrm>
          <a:prstGeom prst="ellipse">
            <a:avLst/>
          </a:prstGeom>
          <a:solidFill>
            <a:srgbClr val="E8583A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766560" y="472744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62B"/>
                </a:solidFill>
              </a:rPr>
              <a:t>Vigorous  (&gt; 6 METs)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6766560" y="516636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7C8C90"/>
                </a:solidFill>
              </a:rPr>
              <a:t>running, Nordic walking, ascending stairs, playing soccer, rope jumping</a:t>
            </a:r>
            <a:endParaRPr lang="en-US" sz="1250" dirty="0"/>
          </a:p>
        </p:txBody>
      </p:sp>
      <p:sp>
        <p:nvSpPr>
          <p:cNvPr id="20" name="Text 1"/>
          <p:cNvSpPr>
            <a:spLocks noGrp="1"/>
          </p:cNvSpPr>
          <p:nvPr>
            <p:ph idx="102" hasCustomPrompt="1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r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6576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Store and the train / test / production split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417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E8583A"/>
                </a:solidFill>
              </a:rPr>
              <a:t>FEATURE GROUP: PAMAP2-HAR-WINDOWS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783080"/>
            <a:ext cx="5669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1100"/>
              </a:spcAft>
              <a:buSzPct val="100000"/>
              <a:buChar char="●"/>
            </a:pPr>
            <a:r>
              <a:rPr lang="en-US" sz="1450" dirty="0">
                <a:solidFill>
                  <a:srgbClr val="12262B"/>
                </a:solidFill>
              </a:rPr>
              <a:t>Record identifier window_id, event time event_time; 10,639 records ingested</a:t>
            </a:r>
            <a:endParaRPr lang="en-US" sz="1450" dirty="0"/>
          </a:p>
          <a:p>
            <a:pPr marL="342900" indent="-342900">
              <a:lnSpc>
                <a:spcPct val="110000"/>
              </a:lnSpc>
              <a:spcAft>
                <a:spcPts val="1100"/>
              </a:spcAft>
              <a:buSzPct val="100000"/>
              <a:buChar char="●"/>
            </a:pPr>
            <a:r>
              <a:rPr lang="en-US" sz="1450" dirty="0">
                <a:solidFill>
                  <a:srgbClr val="12262B"/>
                </a:solidFill>
              </a:rPr>
              <a:t>Offline store only (batch system), queried through Glue / Athena</a:t>
            </a:r>
            <a:endParaRPr lang="en-US" sz="1450" dirty="0"/>
          </a:p>
          <a:p>
            <a:pPr marL="342900" indent="-342900">
              <a:lnSpc>
                <a:spcPct val="110000"/>
              </a:lnSpc>
              <a:spcAft>
                <a:spcPts val="1100"/>
              </a:spcAft>
              <a:buSzPct val="100000"/>
              <a:buChar char="●"/>
            </a:pPr>
            <a:r>
              <a:rPr lang="en-US" sz="1450" dirty="0">
                <a:solidFill>
                  <a:srgbClr val="12262B"/>
                </a:solidFill>
              </a:rPr>
              <a:t>Latest record per window via a de-duplication window function</a:t>
            </a:r>
            <a:endParaRPr lang="en-US" sz="1450" dirty="0"/>
          </a:p>
          <a:p>
            <a:pPr marL="342900" indent="-342900">
              <a:lnSpc>
                <a:spcPct val="110000"/>
              </a:lnSpc>
              <a:spcAft>
                <a:spcPts val="1100"/>
              </a:spcAft>
              <a:buSzPct val="100000"/>
              <a:buChar char="●"/>
            </a:pPr>
            <a:r>
              <a:rPr lang="en-US" sz="1450" dirty="0">
                <a:solidFill>
                  <a:srgbClr val="12262B"/>
                </a:solidFill>
              </a:rPr>
              <a:t>Deterministic split, one gap window at each boundary (318 dropped)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40080" y="4251960"/>
            <a:ext cx="5669280" cy="1828800"/>
          </a:xfrm>
          <a:prstGeom prst="roundRect">
            <a:avLst>
              <a:gd name="adj" fmla="val 5000"/>
            </a:avLst>
          </a:prstGeom>
          <a:solidFill>
            <a:srgbClr val="12262B"/>
          </a:solidFill>
          <a:ln/>
          <a:effectLst>
            <a:outerShdw blurRad="76200" dist="25400" dir="5400000" algn="bl" rotWithShape="0">
              <a:srgbClr val="12262B">
                <a:alpha val="16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68680" y="4343400"/>
            <a:ext cx="5212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69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(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69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*, ROW_NUMBER() OVER (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69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PARTITION BY window_id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69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ORDER BY event_time DESC) rn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69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offline_table) WHERE rn = 1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675120" y="1417320"/>
            <a:ext cx="4846320" cy="466344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9525">
            <a:solidFill>
              <a:srgbClr val="D3DADA"/>
            </a:solidFill>
            <a:prstDash val="solid"/>
          </a:ln>
          <a:effectLst>
            <a:outerShdw blurRad="76200" dist="25400" dir="5400000" algn="bl" rotWithShape="0">
              <a:srgbClr val="12262B">
                <a:alpha val="16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6903720" y="16002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7C8C90"/>
                </a:solidFill>
              </a:rPr>
              <a:t>CHRONOLOGICAL SPLIT PER SUBJECT + ACTIVITY (WINDOWS)</a:t>
            </a:r>
            <a:endParaRPr lang="en-US" sz="1100" dirty="0"/>
          </a:p>
        </p:txBody>
      </p:sp>
      <p:graphicFrame>
        <p:nvGraphicFramePr>
          <p:cNvPr id="10" name="Chart 0"/>
          <p:cNvGraphicFramePr/>
          <p:nvPr/>
        </p:nvGraphicFramePr>
        <p:xfrm>
          <a:off x="6812280" y="1965960"/>
          <a:ext cx="457200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Text 1"/>
          <p:cNvSpPr>
            <a:spLocks noGrp="1"/>
          </p:cNvSpPr>
          <p:nvPr>
            <p:ph idx="102" hasCustomPrompt="1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r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6576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Modeling approach: a benchmark first, then a real model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640080" y="1463040"/>
            <a:ext cx="3520440" cy="448056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9525">
            <a:solidFill>
              <a:srgbClr val="D3DADA"/>
            </a:solidFill>
            <a:prstDash val="solid"/>
          </a:ln>
          <a:effectLst>
            <a:outerShdw blurRad="76200" dist="25400" dir="5400000" algn="bl" rotWithShape="0">
              <a:srgbClr val="12262B">
                <a:alpha val="16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640080" y="1463040"/>
            <a:ext cx="3520440" cy="685800"/>
          </a:xfrm>
          <a:prstGeom prst="roundRect">
            <a:avLst>
              <a:gd name="adj" fmla="val 13333"/>
            </a:avLst>
          </a:prstGeom>
          <a:solidFill>
            <a:srgbClr val="7C8C90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40080" y="146304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Benchmark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377440"/>
            <a:ext cx="31089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2262B"/>
                </a:solidFill>
              </a:rPr>
              <a:t>Depth-3 decision tree</a:t>
            </a:r>
            <a:endParaRPr lang="en-US" sz="135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2262B"/>
                </a:solidFill>
              </a:rPr>
              <a:t>2 features: chest acceleration std, mean heart rate</a:t>
            </a:r>
            <a:endParaRPr lang="en-US" sz="135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2262B"/>
                </a:solidFill>
              </a:rPr>
              <a:t>Plus a majority-class floor (0.012 macro-F1)</a:t>
            </a:r>
            <a:endParaRPr lang="en-US" sz="135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2262B"/>
                </a:solidFill>
              </a:rPr>
              <a:t>Minimum viable baseline to beat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4343400" y="1463040"/>
            <a:ext cx="3520440" cy="448056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9525">
            <a:solidFill>
              <a:srgbClr val="D3DADA"/>
            </a:solidFill>
            <a:prstDash val="solid"/>
          </a:ln>
          <a:effectLst>
            <a:outerShdw blurRad="76200" dist="25400" dir="5400000" algn="bl" rotWithShape="0">
              <a:srgbClr val="12262B">
                <a:alpha val="1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343400" y="1463040"/>
            <a:ext cx="3520440" cy="685800"/>
          </a:xfrm>
          <a:prstGeom prst="roundRect">
            <a:avLst>
              <a:gd name="adj" fmla="val 13333"/>
            </a:avLst>
          </a:prstGeom>
          <a:solidFill>
            <a:srgbClr val="E8583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343400" y="146304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XGBoost (production)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4572000" y="2377440"/>
            <a:ext cx="31089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2262B"/>
                </a:solidFill>
              </a:rPr>
              <a:t>Built-in XGBoost 1.7-1, multi:softprob, 18 classes</a:t>
            </a:r>
            <a:endParaRPr lang="en-US" sz="135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2262B"/>
                </a:solidFill>
              </a:rPr>
              <a:t>500 rounds, early stop 20, max depth 6, eta 0.1</a:t>
            </a:r>
            <a:endParaRPr lang="en-US" sz="135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2262B"/>
                </a:solidFill>
              </a:rPr>
              <a:t>Debugger rules: LossNotDecreasing, Overfit, ClassImbalance</a:t>
            </a:r>
            <a:endParaRPr lang="en-US" sz="135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2262B"/>
                </a:solidFill>
              </a:rPr>
              <a:t>Trained on ml.m5.xlarge inside the pipeline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8046720" y="1463040"/>
            <a:ext cx="3520440" cy="448056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9525">
            <a:solidFill>
              <a:srgbClr val="D3DADA"/>
            </a:solidFill>
            <a:prstDash val="solid"/>
          </a:ln>
          <a:effectLst>
            <a:outerShdw blurRad="76200" dist="25400" dir="5400000" algn="bl" rotWithShape="0">
              <a:srgbClr val="12262B">
                <a:alpha val="1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8046720" y="1463040"/>
            <a:ext cx="3520440" cy="685800"/>
          </a:xfrm>
          <a:prstGeom prst="roundRect">
            <a:avLst>
              <a:gd name="adj" fmla="val 13333"/>
            </a:avLst>
          </a:prstGeom>
          <a:solidFill>
            <a:srgbClr val="3F8FA6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146304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Planned next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8275320" y="2377440"/>
            <a:ext cx="31089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2262B"/>
                </a:solidFill>
              </a:rPr>
              <a:t>Hyperparameter tuning step on validation macro-F1</a:t>
            </a:r>
            <a:endParaRPr lang="en-US" sz="135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2262B"/>
                </a:solidFill>
              </a:rPr>
              <a:t>1-D CNN / LSTM on raw windows</a:t>
            </a:r>
            <a:endParaRPr lang="en-US" sz="135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2262B"/>
                </a:solidFill>
              </a:rPr>
              <a:t>Leave-one-subject-out as the gate metric</a:t>
            </a:r>
            <a:endParaRPr lang="en-US" sz="135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2262B"/>
                </a:solidFill>
              </a:rPr>
              <a:t>Register whichever model scores higher</a:t>
            </a:r>
            <a:endParaRPr lang="en-US" sz="1350" dirty="0"/>
          </a:p>
        </p:txBody>
      </p:sp>
      <p:sp>
        <p:nvSpPr>
          <p:cNvPr id="16" name="Text 1"/>
          <p:cNvSpPr>
            <a:spLocks noGrp="1"/>
          </p:cNvSpPr>
          <p:nvPr>
            <p:ph idx="102" hasCustomPrompt="1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r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6576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Results: XGBoost clears the gate by a wide margin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640080" y="1417320"/>
          <a:ext cx="612648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1"/>
          <p:cNvSpPr/>
          <p:nvPr/>
        </p:nvSpPr>
        <p:spPr>
          <a:xfrm>
            <a:off x="7086600" y="1417320"/>
            <a:ext cx="21488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3DADA"/>
            </a:solidFill>
            <a:prstDash val="solid"/>
          </a:ln>
          <a:effectLst>
            <a:outerShdw blurRad="76200" dist="25400" dir="5400000" algn="bl" rotWithShape="0">
              <a:srgbClr val="12262B">
                <a:alpha val="16000"/>
              </a:srgbClr>
            </a:outerShdw>
          </a:effectLst>
        </p:spPr>
      </p:sp>
      <p:sp>
        <p:nvSpPr>
          <p:cNvPr id="6" name="Text 2"/>
          <p:cNvSpPr txBox="1"/>
          <p:nvPr/>
        </p:nvSpPr>
        <p:spPr>
          <a:xfrm>
            <a:off x="7251192" y="1508760"/>
            <a:ext cx="18196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200" b="1" dirty="0">
                <a:solidFill>
                  <a:srgbClr val="E8583A"/>
                </a:solidFill>
              </a:rPr>
              <a:t>0.871</a:t>
            </a:r>
            <a:endParaRPr lang="en-US" sz="3200" dirty="0"/>
          </a:p>
        </p:txBody>
      </p:sp>
      <p:sp>
        <p:nvSpPr>
          <p:cNvPr id="7" name="Text 3"/>
          <p:cNvSpPr txBox="1"/>
          <p:nvPr/>
        </p:nvSpPr>
        <p:spPr>
          <a:xfrm>
            <a:off x="7251192" y="2304288"/>
            <a:ext cx="1819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kern="0" spc="100" dirty="0">
                <a:solidFill>
                  <a:srgbClr val="7C8C90"/>
                </a:solidFill>
              </a:rPr>
              <a:t>MACRO-F1 (TEST)</a:t>
            </a:r>
            <a:endParaRPr lang="en-US" sz="1050" dirty="0"/>
          </a:p>
        </p:txBody>
      </p:sp>
      <p:sp>
        <p:nvSpPr>
          <p:cNvPr id="8" name="Shape 4"/>
          <p:cNvSpPr/>
          <p:nvPr/>
        </p:nvSpPr>
        <p:spPr>
          <a:xfrm>
            <a:off x="9372600" y="1417320"/>
            <a:ext cx="21488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3DADA"/>
            </a:solidFill>
            <a:prstDash val="solid"/>
          </a:ln>
          <a:effectLst>
            <a:outerShdw blurRad="76200" dist="25400" dir="5400000" algn="bl" rotWithShape="0">
              <a:srgbClr val="12262B">
                <a:alpha val="16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9537192" y="1508760"/>
            <a:ext cx="18196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200" b="1" dirty="0">
                <a:solidFill>
                  <a:srgbClr val="12262B"/>
                </a:solidFill>
              </a:rPr>
              <a:t>0.881</a:t>
            </a:r>
            <a:endParaRPr lang="en-US" sz="3200" dirty="0"/>
          </a:p>
        </p:txBody>
      </p:sp>
      <p:sp>
        <p:nvSpPr>
          <p:cNvPr id="10" name="Text 6"/>
          <p:cNvSpPr txBox="1"/>
          <p:nvPr/>
        </p:nvSpPr>
        <p:spPr>
          <a:xfrm>
            <a:off x="9537192" y="2304288"/>
            <a:ext cx="1819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kern="0" spc="100" dirty="0">
                <a:solidFill>
                  <a:srgbClr val="7C8C90"/>
                </a:solidFill>
              </a:rPr>
              <a:t>ACCURACY (TEST)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7086600" y="2971800"/>
            <a:ext cx="21488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3DADA"/>
            </a:solidFill>
            <a:prstDash val="solid"/>
          </a:ln>
          <a:effectLst>
            <a:outerShdw blurRad="76200" dist="25400" dir="5400000" algn="bl" rotWithShape="0">
              <a:srgbClr val="12262B">
                <a:alpha val="16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7251192" y="3063240"/>
            <a:ext cx="18196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200" b="1" dirty="0">
                <a:solidFill>
                  <a:srgbClr val="2E8B63"/>
                </a:solidFill>
              </a:rPr>
              <a:t>+0.587</a:t>
            </a:r>
            <a:endParaRPr lang="en-US" sz="3200" dirty="0"/>
          </a:p>
        </p:txBody>
      </p:sp>
      <p:sp>
        <p:nvSpPr>
          <p:cNvPr id="13" name="Text 9"/>
          <p:cNvSpPr txBox="1"/>
          <p:nvPr/>
        </p:nvSpPr>
        <p:spPr>
          <a:xfrm>
            <a:off x="7251192" y="3858768"/>
            <a:ext cx="1819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kern="0" spc="100" dirty="0">
                <a:solidFill>
                  <a:srgbClr val="7C8C90"/>
                </a:solidFill>
              </a:rPr>
              <a:t>LIFT OVER BENCHMARK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9372600" y="2971800"/>
            <a:ext cx="21488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3DADA"/>
            </a:solidFill>
            <a:prstDash val="solid"/>
          </a:ln>
          <a:effectLst>
            <a:outerShdw blurRad="76200" dist="25400" dir="5400000" algn="bl" rotWithShape="0">
              <a:srgbClr val="12262B">
                <a:alpha val="16000"/>
              </a:srgbClr>
            </a:outerShdw>
          </a:effectLst>
        </p:spPr>
      </p:sp>
      <p:sp>
        <p:nvSpPr>
          <p:cNvPr id="15" name="Text 11"/>
          <p:cNvSpPr txBox="1"/>
          <p:nvPr/>
        </p:nvSpPr>
        <p:spPr>
          <a:xfrm>
            <a:off x="9537192" y="3063240"/>
            <a:ext cx="18196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200" b="1" dirty="0">
                <a:solidFill>
                  <a:srgbClr val="12262B"/>
                </a:solidFill>
              </a:rPr>
              <a:t>0.85</a:t>
            </a:r>
            <a:endParaRPr lang="en-US" sz="3200" dirty="0"/>
          </a:p>
        </p:txBody>
      </p:sp>
      <p:sp>
        <p:nvSpPr>
          <p:cNvPr id="16" name="Text 12"/>
          <p:cNvSpPr txBox="1"/>
          <p:nvPr/>
        </p:nvSpPr>
        <p:spPr>
          <a:xfrm>
            <a:off x="9537192" y="3858768"/>
            <a:ext cx="1819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kern="0" spc="100" dirty="0">
                <a:solidFill>
                  <a:srgbClr val="7C8C90"/>
                </a:solidFill>
              </a:rPr>
              <a:t>GATE THRESHOLD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7086600" y="4526280"/>
            <a:ext cx="4434840" cy="1554480"/>
          </a:xfrm>
          <a:prstGeom prst="roundRect">
            <a:avLst>
              <a:gd name="adj" fmla="val 5882"/>
            </a:avLst>
          </a:prstGeom>
          <a:solidFill>
            <a:srgbClr val="12262B"/>
          </a:solidFill>
          <a:ln/>
          <a:effectLst>
            <a:outerShdw blurRad="76200" dist="25400" dir="5400000" algn="bl" rotWithShape="0">
              <a:srgbClr val="12262B">
                <a:alpha val="16000"/>
              </a:srgbClr>
            </a:outerShdw>
          </a:effectLst>
        </p:spPr>
      </p:sp>
      <p:sp>
        <p:nvSpPr>
          <p:cNvPr id="18" name="Text 14"/>
          <p:cNvSpPr txBox="1"/>
          <p:nvPr/>
        </p:nvSpPr>
        <p:spPr>
          <a:xfrm>
            <a:off x="7315200" y="4617720"/>
            <a:ext cx="3977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4EBEA"/>
                </a:solidFill>
              </a:rPr>
              <a:t>Train merror 0.0002 vs validation merror 0.089. Debugger flagged ClassImbalance and LossNotDecreasing; Overfit passed. Test subjects also appear in training, so the number is optimistic.</a:t>
            </a:r>
            <a:endParaRPr lang="en-US" sz="1250" dirty="0"/>
          </a:p>
        </p:txBody>
      </p:sp>
      <p:sp>
        <p:nvSpPr>
          <p:cNvPr id="19" name="Text 1"/>
          <p:cNvSpPr>
            <a:spLocks noGrp="1"/>
          </p:cNvSpPr>
          <p:nvPr>
            <p:ph idx="102" hasCustomPrompt="1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r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6576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CI/CD pipeline: the gate fails closed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3716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B63"/>
                </a:solidFill>
              </a:rPr>
              <a:t>Successful run: score above threshold, model registered and scored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40080" y="1828800"/>
            <a:ext cx="1234440" cy="868680"/>
          </a:xfrm>
          <a:prstGeom prst="roundRect">
            <a:avLst>
              <a:gd name="adj" fmla="val 9474"/>
            </a:avLst>
          </a:prstGeom>
          <a:solidFill>
            <a:srgbClr val="2E8B63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40080" y="1828800"/>
            <a:ext cx="123444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Preprocess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Splits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1874520" y="208483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7C8C90"/>
                </a:solidFill>
              </a:rPr>
              <a:t>→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2148840" y="1828800"/>
            <a:ext cx="1234440" cy="868680"/>
          </a:xfrm>
          <a:prstGeom prst="roundRect">
            <a:avLst>
              <a:gd name="adj" fmla="val 9474"/>
            </a:avLst>
          </a:prstGeom>
          <a:solidFill>
            <a:srgbClr val="2E8B63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148840" y="1828800"/>
            <a:ext cx="123444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Train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Model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3383280" y="208483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7C8C90"/>
                </a:solidFill>
              </a:rPr>
              <a:t>→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3657600" y="1828800"/>
            <a:ext cx="1234440" cy="868680"/>
          </a:xfrm>
          <a:prstGeom prst="roundRect">
            <a:avLst>
              <a:gd name="adj" fmla="val 9474"/>
            </a:avLst>
          </a:prstGeom>
          <a:solidFill>
            <a:srgbClr val="2E8B6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3657600" y="1828800"/>
            <a:ext cx="123444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Evaluate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Model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4892040" y="208483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7C8C90"/>
                </a:solidFill>
              </a:rPr>
              <a:t>→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5166360" y="1828800"/>
            <a:ext cx="1234440" cy="868680"/>
          </a:xfrm>
          <a:prstGeom prst="roundRect">
            <a:avLst>
              <a:gd name="adj" fmla="val 9474"/>
            </a:avLst>
          </a:prstGeom>
          <a:solidFill>
            <a:srgbClr val="2E8B63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5166360" y="1828800"/>
            <a:ext cx="123444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Check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Macro-F1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6400800" y="208483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7C8C90"/>
                </a:solidFill>
              </a:rPr>
              <a:t>→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6675120" y="1828800"/>
            <a:ext cx="1325880" cy="868680"/>
          </a:xfrm>
          <a:prstGeom prst="roundRect">
            <a:avLst>
              <a:gd name="adj" fmla="val 9474"/>
            </a:avLst>
          </a:prstGeom>
          <a:solidFill>
            <a:srgbClr val="2E8B63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675120" y="1828800"/>
            <a:ext cx="132588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Register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Model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8001000" y="208483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7C8C90"/>
                </a:solidFill>
              </a:rPr>
              <a:t>→</a:t>
            </a:r>
            <a:endParaRPr lang="en-US" sz="2000" dirty="0"/>
          </a:p>
        </p:txBody>
      </p:sp>
      <p:sp>
        <p:nvSpPr>
          <p:cNvPr id="20" name="Shape 17"/>
          <p:cNvSpPr/>
          <p:nvPr/>
        </p:nvSpPr>
        <p:spPr>
          <a:xfrm>
            <a:off x="8275320" y="1828800"/>
            <a:ext cx="1325880" cy="868680"/>
          </a:xfrm>
          <a:prstGeom prst="roundRect">
            <a:avLst>
              <a:gd name="adj" fmla="val 9474"/>
            </a:avLst>
          </a:prstGeom>
          <a:solidFill>
            <a:srgbClr val="2E8B63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8275320" y="1828800"/>
            <a:ext cx="132588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Create model +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Batch Transform</a:t>
            </a:r>
            <a:endParaRPr lang="en-US" sz="1150" dirty="0"/>
          </a:p>
        </p:txBody>
      </p:sp>
      <p:sp>
        <p:nvSpPr>
          <p:cNvPr id="22" name="Text 19"/>
          <p:cNvSpPr txBox="1"/>
          <p:nvPr/>
        </p:nvSpPr>
        <p:spPr>
          <a:xfrm>
            <a:off x="9601200" y="208483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7C8C90"/>
                </a:solidFill>
              </a:rPr>
              <a:t>→</a:t>
            </a:r>
            <a:endParaRPr lang="en-US" sz="2000" dirty="0"/>
          </a:p>
        </p:txBody>
      </p:sp>
      <p:sp>
        <p:nvSpPr>
          <p:cNvPr id="23" name="Shape 20"/>
          <p:cNvSpPr/>
          <p:nvPr/>
        </p:nvSpPr>
        <p:spPr>
          <a:xfrm>
            <a:off x="9875520" y="1828800"/>
            <a:ext cx="1325880" cy="868680"/>
          </a:xfrm>
          <a:prstGeom prst="roundRect">
            <a:avLst>
              <a:gd name="adj" fmla="val 9474"/>
            </a:avLst>
          </a:prstGeom>
          <a:solidFill>
            <a:srgbClr val="2E8B63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9875520" y="1828800"/>
            <a:ext cx="132588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Post-process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Predictions</a:t>
            </a:r>
            <a:endParaRPr lang="en-US" sz="1150" dirty="0"/>
          </a:p>
        </p:txBody>
      </p:sp>
      <p:sp>
        <p:nvSpPr>
          <p:cNvPr id="25" name="Text 22"/>
          <p:cNvSpPr txBox="1"/>
          <p:nvPr/>
        </p:nvSpPr>
        <p:spPr>
          <a:xfrm>
            <a:off x="640080" y="34290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583A"/>
                </a:solidFill>
              </a:rPr>
              <a:t>Forced-fail demo (threshold 0.999): gate fails by design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640080" y="3886200"/>
            <a:ext cx="1234440" cy="868680"/>
          </a:xfrm>
          <a:prstGeom prst="roundRect">
            <a:avLst>
              <a:gd name="adj" fmla="val 9474"/>
            </a:avLst>
          </a:prstGeom>
          <a:solidFill>
            <a:srgbClr val="2E8B63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40080" y="3886200"/>
            <a:ext cx="123444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Preprocess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Splits</a:t>
            </a:r>
            <a:endParaRPr lang="en-US" sz="1150" dirty="0"/>
          </a:p>
        </p:txBody>
      </p:sp>
      <p:sp>
        <p:nvSpPr>
          <p:cNvPr id="28" name="Text 25"/>
          <p:cNvSpPr txBox="1"/>
          <p:nvPr/>
        </p:nvSpPr>
        <p:spPr>
          <a:xfrm>
            <a:off x="1874520" y="414223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7C8C90"/>
                </a:solidFill>
              </a:rPr>
              <a:t>→</a:t>
            </a:r>
            <a:endParaRPr lang="en-US" sz="2000" dirty="0"/>
          </a:p>
        </p:txBody>
      </p:sp>
      <p:sp>
        <p:nvSpPr>
          <p:cNvPr id="29" name="Shape 26"/>
          <p:cNvSpPr/>
          <p:nvPr/>
        </p:nvSpPr>
        <p:spPr>
          <a:xfrm>
            <a:off x="2148840" y="3886200"/>
            <a:ext cx="1234440" cy="868680"/>
          </a:xfrm>
          <a:prstGeom prst="roundRect">
            <a:avLst>
              <a:gd name="adj" fmla="val 9474"/>
            </a:avLst>
          </a:prstGeom>
          <a:solidFill>
            <a:srgbClr val="2E8B63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2148840" y="3886200"/>
            <a:ext cx="123444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Train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Model</a:t>
            </a:r>
            <a:endParaRPr lang="en-US" sz="1150" dirty="0"/>
          </a:p>
        </p:txBody>
      </p:sp>
      <p:sp>
        <p:nvSpPr>
          <p:cNvPr id="31" name="Text 28"/>
          <p:cNvSpPr txBox="1"/>
          <p:nvPr/>
        </p:nvSpPr>
        <p:spPr>
          <a:xfrm>
            <a:off x="3383280" y="414223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7C8C90"/>
                </a:solidFill>
              </a:rPr>
              <a:t>→</a:t>
            </a:r>
            <a:endParaRPr lang="en-US" sz="2000" dirty="0"/>
          </a:p>
        </p:txBody>
      </p:sp>
      <p:sp>
        <p:nvSpPr>
          <p:cNvPr id="32" name="Shape 29"/>
          <p:cNvSpPr/>
          <p:nvPr/>
        </p:nvSpPr>
        <p:spPr>
          <a:xfrm>
            <a:off x="3657600" y="3886200"/>
            <a:ext cx="1234440" cy="868680"/>
          </a:xfrm>
          <a:prstGeom prst="roundRect">
            <a:avLst>
              <a:gd name="adj" fmla="val 9474"/>
            </a:avLst>
          </a:prstGeom>
          <a:solidFill>
            <a:srgbClr val="2E8B63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3657600" y="3886200"/>
            <a:ext cx="123444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Evaluate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Model</a:t>
            </a:r>
            <a:endParaRPr lang="en-US" sz="1150" dirty="0"/>
          </a:p>
        </p:txBody>
      </p:sp>
      <p:sp>
        <p:nvSpPr>
          <p:cNvPr id="34" name="Text 31"/>
          <p:cNvSpPr txBox="1"/>
          <p:nvPr/>
        </p:nvSpPr>
        <p:spPr>
          <a:xfrm>
            <a:off x="4892040" y="414223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7C8C90"/>
                </a:solidFill>
              </a:rPr>
              <a:t>→</a:t>
            </a:r>
            <a:endParaRPr lang="en-US" sz="2000" dirty="0"/>
          </a:p>
        </p:txBody>
      </p:sp>
      <p:sp>
        <p:nvSpPr>
          <p:cNvPr id="35" name="Shape 32"/>
          <p:cNvSpPr/>
          <p:nvPr/>
        </p:nvSpPr>
        <p:spPr>
          <a:xfrm>
            <a:off x="5166360" y="3886200"/>
            <a:ext cx="1234440" cy="868680"/>
          </a:xfrm>
          <a:prstGeom prst="roundRect">
            <a:avLst>
              <a:gd name="adj" fmla="val 9474"/>
            </a:avLst>
          </a:prstGeom>
          <a:solidFill>
            <a:srgbClr val="2E8B63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5166360" y="3886200"/>
            <a:ext cx="123444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Check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Macro-F1</a:t>
            </a:r>
            <a:endParaRPr lang="en-US" sz="1150" dirty="0"/>
          </a:p>
        </p:txBody>
      </p:sp>
      <p:sp>
        <p:nvSpPr>
          <p:cNvPr id="37" name="Text 34"/>
          <p:cNvSpPr txBox="1"/>
          <p:nvPr/>
        </p:nvSpPr>
        <p:spPr>
          <a:xfrm>
            <a:off x="6400800" y="414223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7C8C90"/>
                </a:solidFill>
              </a:rPr>
              <a:t>→</a:t>
            </a:r>
            <a:endParaRPr lang="en-US" sz="2000" dirty="0"/>
          </a:p>
        </p:txBody>
      </p:sp>
      <p:sp>
        <p:nvSpPr>
          <p:cNvPr id="38" name="Shape 35"/>
          <p:cNvSpPr/>
          <p:nvPr/>
        </p:nvSpPr>
        <p:spPr>
          <a:xfrm>
            <a:off x="6675120" y="3886200"/>
            <a:ext cx="1737360" cy="868680"/>
          </a:xfrm>
          <a:prstGeom prst="roundRect">
            <a:avLst>
              <a:gd name="adj" fmla="val 9474"/>
            </a:avLst>
          </a:prstGeom>
          <a:solidFill>
            <a:srgbClr val="E8583A"/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6675120" y="3886200"/>
            <a:ext cx="173736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MacroF1Below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Threshold (Failed)</a:t>
            </a:r>
            <a:endParaRPr lang="en-US" sz="1150" dirty="0"/>
          </a:p>
        </p:txBody>
      </p:sp>
      <p:sp>
        <p:nvSpPr>
          <p:cNvPr id="40" name="Text 37"/>
          <p:cNvSpPr txBox="1"/>
          <p:nvPr/>
        </p:nvSpPr>
        <p:spPr>
          <a:xfrm>
            <a:off x="8412480" y="414223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7C8C90"/>
                </a:solidFill>
              </a:rPr>
              <a:t>→</a:t>
            </a:r>
            <a:endParaRPr lang="en-US" sz="2000" dirty="0"/>
          </a:p>
        </p:txBody>
      </p:sp>
      <p:sp>
        <p:nvSpPr>
          <p:cNvPr id="41" name="Shape 38"/>
          <p:cNvSpPr/>
          <p:nvPr/>
        </p:nvSpPr>
        <p:spPr>
          <a:xfrm>
            <a:off x="8686800" y="3886200"/>
            <a:ext cx="28346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5875">
            <a:solidFill>
              <a:srgbClr val="7C8C90"/>
            </a:solidFill>
            <a:prstDash val="dash"/>
          </a:ln>
        </p:spPr>
      </p:sp>
      <p:sp>
        <p:nvSpPr>
          <p:cNvPr id="42" name="Text 39"/>
          <p:cNvSpPr txBox="1"/>
          <p:nvPr/>
        </p:nvSpPr>
        <p:spPr>
          <a:xfrm>
            <a:off x="8686800" y="3886200"/>
            <a:ext cx="283464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8C90"/>
                </a:solidFill>
              </a:rPr>
              <a:t>Register, Transform, Post-process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7C8C90"/>
                </a:solidFill>
              </a:rPr>
              <a:t>skipped, nothing published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640080" y="5532120"/>
            <a:ext cx="10881360" cy="731520"/>
          </a:xfrm>
          <a:prstGeom prst="roundRect">
            <a:avLst>
              <a:gd name="adj" fmla="val 12500"/>
            </a:avLst>
          </a:prstGeom>
          <a:solidFill>
            <a:srgbClr val="12262B"/>
          </a:solidFill>
          <a:ln/>
          <a:effectLst>
            <a:outerShdw blurRad="76200" dist="25400" dir="5400000" algn="bl" rotWithShape="0">
              <a:srgbClr val="12262B">
                <a:alpha val="16000"/>
              </a:srgbClr>
            </a:outerShdw>
          </a:effectLst>
        </p:spPr>
      </p:sp>
      <p:sp>
        <p:nvSpPr>
          <p:cNvPr id="44" name="Text 41"/>
          <p:cNvSpPr txBox="1"/>
          <p:nvPr/>
        </p:nvSpPr>
        <p:spPr>
          <a:xfrm>
            <a:off x="868680" y="553212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69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Logged reason: “Test macro-F1 is below MacroF1Threshold 0.999”</a:t>
            </a:r>
            <a:endParaRPr lang="en-US" sz="1400" dirty="0"/>
          </a:p>
        </p:txBody>
      </p:sp>
      <p:sp>
        <p:nvSpPr>
          <p:cNvPr id="45" name="Text 1"/>
          <p:cNvSpPr>
            <a:spLocks noGrp="1"/>
          </p:cNvSpPr>
          <p:nvPr>
            <p:ph idx="102" hasCustomPrompt="1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r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6576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registry and model card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881360" cy="164592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Version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Approval status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Test macro-F1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Origin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2262B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D69A22"/>
                          </a:solidFill>
                        </a:rPr>
                        <a:t>Approved (manual)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2262B"/>
                          </a:solidFill>
                        </a:rPr>
                        <a:t>0.8715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2262B"/>
                          </a:solidFill>
                        </a:rPr>
                        <a:t>SageMaker Pipeline (passed gate)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2262B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D69A22"/>
                          </a:solidFill>
                        </a:rPr>
                        <a:t>PendingManualApproval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2262B"/>
                          </a:solidFill>
                        </a:rPr>
                        <a:t>earlier run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2262B"/>
                          </a:solidFill>
                        </a:rPr>
                        <a:t>SageMaker Pipeline (passed gate)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640080" y="3246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C8C90"/>
                </a:solidFill>
              </a:rPr>
              <a:t>Model package group  </a:t>
            </a:r>
            <a:r>
              <a:rPr lang="en-US" sz="1400" b="1" dirty="0">
                <a:solidFill>
                  <a:srgbClr val="1226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pamap2-har-xgboost</a:t>
            </a:r>
            <a:endParaRPr lang="en-US" sz="1400" dirty="0"/>
          </a:p>
        </p:txBody>
      </p:sp>
      <p:sp>
        <p:nvSpPr>
          <p:cNvPr id="6" name="Shape 2"/>
          <p:cNvSpPr/>
          <p:nvPr/>
        </p:nvSpPr>
        <p:spPr>
          <a:xfrm>
            <a:off x="640080" y="3840480"/>
            <a:ext cx="352044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D3DADA"/>
            </a:solidFill>
            <a:prstDash val="solid"/>
          </a:ln>
          <a:effectLst>
            <a:outerShdw blurRad="76200" dist="25400" dir="5400000" algn="bl" rotWithShape="0">
              <a:srgbClr val="12262B">
                <a:alpha val="16000"/>
              </a:srgbClr>
            </a:outerShdw>
          </a:effectLst>
        </p:spPr>
      </p:sp>
      <p:sp>
        <p:nvSpPr>
          <p:cNvPr id="7" name="Text 3"/>
          <p:cNvSpPr txBox="1"/>
          <p:nvPr/>
        </p:nvSpPr>
        <p:spPr>
          <a:xfrm>
            <a:off x="841248" y="39776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5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Metrics attached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841248" y="4434840"/>
            <a:ext cx="31089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2262B"/>
                </a:solidFill>
              </a:rPr>
              <a:t>test macro-F1 and accuracy, benchmark macro-F1, train / validation merror, training job and eval report link stored with every package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4343400" y="3840480"/>
            <a:ext cx="352044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D3DADA"/>
            </a:solidFill>
            <a:prstDash val="solid"/>
          </a:ln>
          <a:effectLst>
            <a:outerShdw blurRad="76200" dist="25400" dir="5400000" algn="bl" rotWithShape="0">
              <a:srgbClr val="12262B">
                <a:alpha val="16000"/>
              </a:srgbClr>
            </a:outerShdw>
          </a:effectLst>
        </p:spPr>
      </p:sp>
      <p:sp>
        <p:nvSpPr>
          <p:cNvPr id="10" name="Text 6"/>
          <p:cNvSpPr txBox="1"/>
          <p:nvPr/>
        </p:nvSpPr>
        <p:spPr>
          <a:xfrm>
            <a:off x="4544568" y="39776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5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gates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4544568" y="4434840"/>
            <a:ext cx="31089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2262B"/>
                </a:solidFill>
              </a:rPr>
              <a:t>Automated macro-F1 ≥ 0.85 in the pipeline, then a person moves the version from PendingManualApproval to Approved</a:t>
            </a:r>
            <a:endParaRPr lang="en-US" sz="1300" dirty="0"/>
          </a:p>
        </p:txBody>
      </p:sp>
      <p:sp>
        <p:nvSpPr>
          <p:cNvPr id="3" name="Shape 8"/>
          <p:cNvSpPr/>
          <p:nvPr/>
        </p:nvSpPr>
        <p:spPr>
          <a:xfrm>
            <a:off x="8046720" y="3840480"/>
            <a:ext cx="352044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D3DADA"/>
            </a:solidFill>
            <a:prstDash val="solid"/>
          </a:ln>
          <a:effectLst>
            <a:outerShdw blurRad="76200" dist="25400" dir="5400000" algn="bl" rotWithShape="0">
              <a:srgbClr val="12262B">
                <a:alpha val="16000"/>
              </a:srgbClr>
            </a:outerShdw>
          </a:effectLst>
        </p:spPr>
      </p:sp>
      <p:sp>
        <p:nvSpPr>
          <p:cNvPr id="13" name="Text 9"/>
          <p:cNvSpPr txBox="1"/>
          <p:nvPr/>
        </p:nvSpPr>
        <p:spPr>
          <a:xfrm>
            <a:off x="8247888" y="39776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5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card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8247888" y="4434840"/>
            <a:ext cx="31089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2262B"/>
                </a:solidFill>
              </a:rPr>
              <a:t>pamap2-har-xgboost-card: intended use, training and evaluation details, SHAP, ethical caveats; status mirrors the registry</a:t>
            </a:r>
            <a:endParaRPr lang="en-US" sz="1300" dirty="0"/>
          </a:p>
        </p:txBody>
      </p:sp>
      <p:sp>
        <p:nvSpPr>
          <p:cNvPr id="15" name="Text 1"/>
          <p:cNvSpPr>
            <a:spLocks noGrp="1"/>
          </p:cNvSpPr>
          <p:nvPr>
            <p:ph idx="102" hasCustomPrompt="1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r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6576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Batch inference: a prediction for every production window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881360" cy="1901952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window_id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subject_id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activity_name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intensity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confidence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true_activity_id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226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106_optional_1152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2262B"/>
                          </a:solidFill>
                        </a:rPr>
                        <a:t>106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2262B"/>
                          </a:solidFill>
                        </a:rPr>
                        <a:t>ascending stairs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E8583A"/>
                          </a:solidFill>
                        </a:rPr>
                        <a:t>vigorous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2262B"/>
                          </a:solidFill>
                        </a:rPr>
                        <a:t>0.94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2262B"/>
                          </a:solidFill>
                        </a:rPr>
                        <a:t>12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226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106_optional_1408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2262B"/>
                          </a:solidFill>
                        </a:rPr>
                        <a:t>106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2262B"/>
                          </a:solidFill>
                        </a:rPr>
                        <a:t>walking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D69A22"/>
                          </a:solidFill>
                        </a:rPr>
                        <a:t>moderate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2262B"/>
                          </a:solidFill>
                        </a:rPr>
                        <a:t>0.88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2262B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226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106_optional_1664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2262B"/>
                          </a:solidFill>
                        </a:rPr>
                        <a:t>106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2262B"/>
                          </a:solidFill>
                        </a:rPr>
                        <a:t>sitting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8B63"/>
                          </a:solidFill>
                        </a:rPr>
                        <a:t>light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2262B"/>
                          </a:solidFill>
                        </a:rPr>
                        <a:t>0.97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2262B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640080" y="3429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C8C90"/>
                </a:solidFill>
              </a:rPr>
              <a:t>Illustrative rows showing the schema of predictions.parquet (4,156 rows in the latest run)</a:t>
            </a:r>
            <a:endParaRPr lang="en-US" sz="1100" dirty="0"/>
          </a:p>
        </p:txBody>
      </p:sp>
      <p:sp>
        <p:nvSpPr>
          <p:cNvPr id="6" name="Shape 2"/>
          <p:cNvSpPr/>
          <p:nvPr/>
        </p:nvSpPr>
        <p:spPr>
          <a:xfrm>
            <a:off x="640080" y="393192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D3DADA"/>
            </a:solidFill>
            <a:prstDash val="solid"/>
          </a:ln>
          <a:effectLst>
            <a:outerShdw blurRad="76200" dist="25400" dir="5400000" algn="bl" rotWithShape="0">
              <a:srgbClr val="12262B">
                <a:alpha val="16000"/>
              </a:srgbClr>
            </a:outerShdw>
          </a:effectLst>
        </p:spPr>
      </p:sp>
      <p:sp>
        <p:nvSpPr>
          <p:cNvPr id="7" name="Text 3"/>
          <p:cNvSpPr txBox="1"/>
          <p:nvPr/>
        </p:nvSpPr>
        <p:spPr>
          <a:xfrm>
            <a:off x="841248" y="40690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85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841248" y="452628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2262B"/>
                </a:solidFill>
              </a:rPr>
              <a:t>Batch Transform runs the gated model over the 40% production split (4,156 windows)</a:t>
            </a:r>
            <a:endParaRPr lang="en-US" sz="1350" dirty="0"/>
          </a:p>
        </p:txBody>
      </p:sp>
      <p:sp>
        <p:nvSpPr>
          <p:cNvPr id="9" name="Shape 5"/>
          <p:cNvSpPr/>
          <p:nvPr/>
        </p:nvSpPr>
        <p:spPr>
          <a:xfrm>
            <a:off x="4343400" y="393192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D3DADA"/>
            </a:solidFill>
            <a:prstDash val="solid"/>
          </a:ln>
          <a:effectLst>
            <a:outerShdw blurRad="76200" dist="25400" dir="5400000" algn="bl" rotWithShape="0">
              <a:srgbClr val="12262B">
                <a:alpha val="16000"/>
              </a:srgbClr>
            </a:outerShdw>
          </a:effectLst>
        </p:spPr>
      </p:sp>
      <p:sp>
        <p:nvSpPr>
          <p:cNvPr id="10" name="Text 6"/>
          <p:cNvSpPr txBox="1"/>
          <p:nvPr/>
        </p:nvSpPr>
        <p:spPr>
          <a:xfrm>
            <a:off x="4544568" y="40690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85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Enrich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4544568" y="452628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2262B"/>
                </a:solidFill>
              </a:rPr>
              <a:t>Post-processing joins probabilities to label map, activity name and MET intensity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8046720" y="393192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D3DADA"/>
            </a:solidFill>
            <a:prstDash val="solid"/>
          </a:ln>
          <a:effectLst>
            <a:outerShdw blurRad="76200" dist="25400" dir="5400000" algn="bl" rotWithShape="0">
              <a:srgbClr val="12262B">
                <a:alpha val="16000"/>
              </a:srgbClr>
            </a:outerShdw>
          </a:effectLst>
        </p:spPr>
      </p:sp>
      <p:sp>
        <p:nvSpPr>
          <p:cNvPr id="3" name="Text 9"/>
          <p:cNvSpPr txBox="1"/>
          <p:nvPr/>
        </p:nvSpPr>
        <p:spPr>
          <a:xfrm>
            <a:off x="8247888" y="40690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85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8247888" y="452628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2262B"/>
                </a:solidFill>
              </a:rPr>
              <a:t>True labels kept alongside predictions so model quality can be tracked</a:t>
            </a:r>
            <a:endParaRPr lang="en-US" sz="1350" dirty="0"/>
          </a:p>
        </p:txBody>
      </p:sp>
      <p:sp>
        <p:nvSpPr>
          <p:cNvPr id="15" name="Text 1"/>
          <p:cNvSpPr>
            <a:spLocks noGrp="1"/>
          </p:cNvSpPr>
          <p:nvPr>
            <p:ph idx="102" hasCustomPrompt="1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r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6576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Monitoring: data, model, pipeline and infrastructure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640080" y="1371600"/>
          <a:ext cx="566928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1"/>
          <p:cNvSpPr/>
          <p:nvPr/>
        </p:nvSpPr>
        <p:spPr>
          <a:xfrm>
            <a:off x="640080" y="4892040"/>
            <a:ext cx="182880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3DADA"/>
            </a:solidFill>
            <a:prstDash val="solid"/>
          </a:ln>
          <a:effectLst>
            <a:outerShdw blurRad="76200" dist="25400" dir="5400000" algn="bl" rotWithShape="0">
              <a:srgbClr val="12262B">
                <a:alpha val="16000"/>
              </a:srgbClr>
            </a:outerShdw>
          </a:effectLst>
        </p:spPr>
      </p:sp>
      <p:sp>
        <p:nvSpPr>
          <p:cNvPr id="6" name="Text 2"/>
          <p:cNvSpPr txBox="1"/>
          <p:nvPr/>
        </p:nvSpPr>
        <p:spPr>
          <a:xfrm>
            <a:off x="804672" y="4983480"/>
            <a:ext cx="14996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200" b="1" dirty="0">
                <a:solidFill>
                  <a:srgbClr val="2E8B63"/>
                </a:solidFill>
              </a:rPr>
              <a:t>0</a:t>
            </a:r>
            <a:endParaRPr lang="en-US" sz="3200" dirty="0"/>
          </a:p>
        </p:txBody>
      </p:sp>
      <p:sp>
        <p:nvSpPr>
          <p:cNvPr id="7" name="Text 3"/>
          <p:cNvSpPr txBox="1"/>
          <p:nvPr/>
        </p:nvSpPr>
        <p:spPr>
          <a:xfrm>
            <a:off x="804672" y="5641848"/>
            <a:ext cx="1499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kern="0" spc="100" dirty="0">
                <a:solidFill>
                  <a:srgbClr val="7C8C90"/>
                </a:solidFill>
              </a:rPr>
              <a:t>DATA VIOLATIONS</a:t>
            </a:r>
            <a:endParaRPr lang="en-US" sz="1050" dirty="0"/>
          </a:p>
        </p:txBody>
      </p:sp>
      <p:sp>
        <p:nvSpPr>
          <p:cNvPr id="8" name="Shape 4"/>
          <p:cNvSpPr/>
          <p:nvPr/>
        </p:nvSpPr>
        <p:spPr>
          <a:xfrm>
            <a:off x="2606040" y="4892040"/>
            <a:ext cx="182880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3DADA"/>
            </a:solidFill>
            <a:prstDash val="solid"/>
          </a:ln>
          <a:effectLst>
            <a:outerShdw blurRad="76200" dist="25400" dir="5400000" algn="bl" rotWithShape="0">
              <a:srgbClr val="12262B">
                <a:alpha val="16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2770632" y="4983480"/>
            <a:ext cx="14996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200" b="1" dirty="0">
                <a:solidFill>
                  <a:srgbClr val="12262B"/>
                </a:solidFill>
              </a:rPr>
              <a:t>0.036</a:t>
            </a:r>
            <a:endParaRPr lang="en-US" sz="3200" dirty="0"/>
          </a:p>
        </p:txBody>
      </p:sp>
      <p:sp>
        <p:nvSpPr>
          <p:cNvPr id="10" name="Text 6"/>
          <p:cNvSpPr txBox="1"/>
          <p:nvPr/>
        </p:nvSpPr>
        <p:spPr>
          <a:xfrm>
            <a:off x="2770632" y="5641848"/>
            <a:ext cx="1499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kern="0" spc="100" dirty="0">
                <a:solidFill>
                  <a:srgbClr val="7C8C90"/>
                </a:solidFill>
              </a:rPr>
              <a:t>MACRO-F1 DROP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4572000" y="4892040"/>
            <a:ext cx="173736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3DADA"/>
            </a:solidFill>
            <a:prstDash val="solid"/>
          </a:ln>
          <a:effectLst>
            <a:outerShdw blurRad="76200" dist="25400" dir="5400000" algn="bl" rotWithShape="0">
              <a:srgbClr val="12262B">
                <a:alpha val="16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4736592" y="4983480"/>
            <a:ext cx="14081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200" b="1" dirty="0">
                <a:solidFill>
                  <a:srgbClr val="2E8B63"/>
                </a:solidFill>
              </a:rPr>
              <a:t>OK</a:t>
            </a:r>
            <a:endParaRPr lang="en-US" sz="3200" dirty="0"/>
          </a:p>
        </p:txBody>
      </p:sp>
      <p:sp>
        <p:nvSpPr>
          <p:cNvPr id="13" name="Text 9"/>
          <p:cNvSpPr txBox="1"/>
          <p:nvPr/>
        </p:nvSpPr>
        <p:spPr>
          <a:xfrm>
            <a:off x="4736592" y="5641848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kern="0" spc="100" dirty="0">
                <a:solidFill>
                  <a:srgbClr val="7C8C90"/>
                </a:solidFill>
              </a:rPr>
              <a:t>BELOW 0.05 LIMIT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583680" y="1371600"/>
            <a:ext cx="493776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3DADA"/>
            </a:solidFill>
            <a:prstDash val="solid"/>
          </a:ln>
          <a:effectLst>
            <a:outerShdw blurRad="76200" dist="25400" dir="5400000" algn="bl" rotWithShape="0">
              <a:srgbClr val="12262B">
                <a:alpha val="16000"/>
              </a:srgbClr>
            </a:outerShdw>
          </a:effectLst>
        </p:spPr>
      </p:sp>
      <p:sp>
        <p:nvSpPr>
          <p:cNvPr id="15" name="Text 11"/>
          <p:cNvSpPr txBox="1"/>
          <p:nvPr/>
        </p:nvSpPr>
        <p:spPr>
          <a:xfrm>
            <a:off x="6766560" y="1417320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E8583A"/>
                </a:solidFill>
              </a:rPr>
              <a:t>Data quality
</a:t>
            </a:r>
            <a:r>
              <a:rPr lang="en-US" sz="1200" dirty="0">
                <a:solidFill>
                  <a:srgbClr val="12262B"/>
                </a:solidFill>
              </a:rPr>
              <a:t>Baseline from training features, checked against production. 0 violations.</a:t>
            </a:r>
            <a:endParaRPr lang="en-US" sz="1450" dirty="0"/>
          </a:p>
        </p:txBody>
      </p:sp>
      <p:sp>
        <p:nvSpPr>
          <p:cNvPr id="16" name="Shape 12"/>
          <p:cNvSpPr/>
          <p:nvPr/>
        </p:nvSpPr>
        <p:spPr>
          <a:xfrm>
            <a:off x="6583680" y="2560320"/>
            <a:ext cx="493776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3DADA"/>
            </a:solidFill>
            <a:prstDash val="solid"/>
          </a:ln>
          <a:effectLst>
            <a:outerShdw blurRad="76200" dist="25400" dir="5400000" algn="bl" rotWithShape="0">
              <a:srgbClr val="12262B">
                <a:alpha val="16000"/>
              </a:srgbClr>
            </a:outerShdw>
          </a:effectLst>
        </p:spPr>
      </p:sp>
      <p:sp>
        <p:nvSpPr>
          <p:cNvPr id="17" name="Text 13"/>
          <p:cNvSpPr txBox="1"/>
          <p:nvPr/>
        </p:nvSpPr>
        <p:spPr>
          <a:xfrm>
            <a:off x="6766560" y="2606040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E8583A"/>
                </a:solidFill>
              </a:rPr>
              <a:t>Model quality
</a:t>
            </a:r>
            <a:r>
              <a:rPr lang="en-US" sz="1200" dirty="0">
                <a:solidFill>
                  <a:srgbClr val="12262B"/>
                </a:solidFill>
              </a:rPr>
              <a:t>Macro-F1 0.836 vs 0.871 baseline (drop 0.036 &lt; 0.05); 5 weighted-metric violations flagged.</a:t>
            </a:r>
            <a:endParaRPr lang="en-US" sz="1450" dirty="0"/>
          </a:p>
        </p:txBody>
      </p:sp>
      <p:sp>
        <p:nvSpPr>
          <p:cNvPr id="18" name="Shape 14"/>
          <p:cNvSpPr/>
          <p:nvPr/>
        </p:nvSpPr>
        <p:spPr>
          <a:xfrm>
            <a:off x="6583680" y="3749040"/>
            <a:ext cx="493776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3DADA"/>
            </a:solidFill>
            <a:prstDash val="solid"/>
          </a:ln>
          <a:effectLst>
            <a:outerShdw blurRad="76200" dist="25400" dir="5400000" algn="bl" rotWithShape="0">
              <a:srgbClr val="12262B">
                <a:alpha val="16000"/>
              </a:srgbClr>
            </a:outerShdw>
          </a:effectLst>
        </p:spPr>
      </p:sp>
      <p:sp>
        <p:nvSpPr>
          <p:cNvPr id="19" name="Text 15"/>
          <p:cNvSpPr txBox="1"/>
          <p:nvPr/>
        </p:nvSpPr>
        <p:spPr>
          <a:xfrm>
            <a:off x="6766560" y="3794760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E8583A"/>
                </a:solidFill>
              </a:rPr>
              <a:t>Pipeline
</a:t>
            </a:r>
            <a:r>
              <a:rPr lang="en-US" sz="1200" dirty="0">
                <a:solidFill>
                  <a:srgbClr val="12262B"/>
                </a:solidFill>
              </a:rPr>
              <a:t>Execution status and failed steps, including the forced-fail run.</a:t>
            </a:r>
            <a:endParaRPr lang="en-US" sz="1450" dirty="0"/>
          </a:p>
        </p:txBody>
      </p:sp>
      <p:sp>
        <p:nvSpPr>
          <p:cNvPr id="20" name="Shape 16"/>
          <p:cNvSpPr/>
          <p:nvPr/>
        </p:nvSpPr>
        <p:spPr>
          <a:xfrm>
            <a:off x="6583680" y="4937760"/>
            <a:ext cx="493776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3DADA"/>
            </a:solidFill>
            <a:prstDash val="solid"/>
          </a:ln>
          <a:effectLst>
            <a:outerShdw blurRad="76200" dist="25400" dir="5400000" algn="bl" rotWithShape="0">
              <a:srgbClr val="12262B">
                <a:alpha val="16000"/>
              </a:srgbClr>
            </a:outerShdw>
          </a:effectLst>
        </p:spPr>
      </p:sp>
      <p:sp>
        <p:nvSpPr>
          <p:cNvPr id="21" name="Text 17"/>
          <p:cNvSpPr txBox="1"/>
          <p:nvPr/>
        </p:nvSpPr>
        <p:spPr>
          <a:xfrm>
            <a:off x="6766560" y="4983480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E8583A"/>
                </a:solidFill>
              </a:rPr>
              <a:t>Infrastructure
</a:t>
            </a:r>
            <a:r>
              <a:rPr lang="en-US" sz="1200" dirty="0">
                <a:solidFill>
                  <a:srgbClr val="12262B"/>
                </a:solidFill>
              </a:rPr>
              <a:t>Metrics Insights alarms on every job: CPU &gt; 95%, memory &gt; 90%, disk &gt; 85%; pamap2-har-ml dashboard.</a:t>
            </a:r>
            <a:endParaRPr lang="en-US" sz="1450" dirty="0"/>
          </a:p>
        </p:txBody>
      </p:sp>
      <p:sp>
        <p:nvSpPr>
          <p:cNvPr id="22" name="Text 18"/>
          <p:cNvSpPr txBox="1"/>
          <p:nvPr/>
        </p:nvSpPr>
        <p:spPr>
          <a:xfrm>
            <a:off x="6583680" y="61722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C8C90"/>
                </a:solidFill>
              </a:rPr>
              <a:t>Production windows share subjects with training, so this is an optimistic read.</a:t>
            </a:r>
            <a:endParaRPr lang="en-US" sz="1050" dirty="0"/>
          </a:p>
        </p:txBody>
      </p:sp>
      <p:sp>
        <p:nvSpPr>
          <p:cNvPr id="23" name="Text 1"/>
          <p:cNvSpPr>
            <a:spLocks noGrp="1"/>
          </p:cNvSpPr>
          <p:nvPr>
            <p:ph idx="102" hasCustomPrompt="1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r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6576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Difficult issues we hit during development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E8583A"/>
                </a:solidFill>
              </a:rPr>
              <a:t>WHAT WAS HARD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783080"/>
            <a:ext cx="5303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2262B"/>
                </a:solidFill>
              </a:rPr>
              <a:t>Getting a managed-services pipeline to work end to end inside a restricted lab account, and keeping the evaluation honest with only nine subjects.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3337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E8583A"/>
                </a:solidFill>
              </a:rPr>
              <a:t>HOW WE HANDLED IT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703320"/>
            <a:ext cx="53035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12262B"/>
                </a:solidFill>
              </a:rPr>
              <a:t>Clarify rejected CreateProcessingJob in this account → exact TreeSHAP with XGBoost pred_contribs</a:t>
            </a:r>
            <a:endParaRPr lang="en-US" sz="135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12262B"/>
                </a:solidFill>
              </a:rPr>
              <a:t>Feature Store offline table lags ingestion by minutes → poll and verify record counts before splitting</a:t>
            </a:r>
            <a:endParaRPr lang="en-US" sz="135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12262B"/>
                </a:solidFill>
              </a:rPr>
              <a:t>Overlapping windows could leak across splits → one-window gap at every boundary</a:t>
            </a:r>
            <a:endParaRPr lang="en-US" sz="135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12262B"/>
                </a:solidFill>
              </a:rPr>
              <a:t>Shared LabRole, SDK v2 deprecations, no hosted CI → notebooks call one tested src/pamap2 library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6355080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E8583A"/>
                </a:solidFill>
              </a:rPr>
              <a:t>RISKS TO FUTURE DEVELOPMENT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355080" y="1783080"/>
            <a:ext cx="516636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3DADA"/>
            </a:solidFill>
            <a:prstDash val="solid"/>
          </a:ln>
          <a:effectLst>
            <a:outerShdw blurRad="76200" dist="25400" dir="5400000" algn="bl" rotWithShape="0">
              <a:srgbClr val="12262B">
                <a:alpha val="16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6583680" y="1892808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C8C90"/>
                </a:solidFill>
              </a:rPr>
              <a:t>Scalability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9052560" y="19202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262B"/>
                </a:solidFill>
              </a:rPr>
              <a:t>Batch only today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052560" y="23774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7C8C90"/>
                </a:solidFill>
              </a:rPr>
              <a:t>real-time endpoint + auto-scaling for live coaching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355080" y="3246120"/>
            <a:ext cx="516636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3DADA"/>
            </a:solidFill>
            <a:prstDash val="solid"/>
          </a:ln>
          <a:effectLst>
            <a:outerShdw blurRad="76200" dist="25400" dir="5400000" algn="bl" rotWithShape="0">
              <a:srgbClr val="12262B">
                <a:alpha val="16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6583680" y="3355848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C8C90"/>
                </a:solidFill>
              </a:rPr>
              <a:t>Technical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9052560" y="33832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262B"/>
                </a:solidFill>
              </a:rPr>
              <a:t>Seen-subject scores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9052560" y="38404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7C8C90"/>
                </a:solidFill>
              </a:rPr>
              <a:t>LOSO likely lower than 0.871; train/val gap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355080" y="4709160"/>
            <a:ext cx="516636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3DADA"/>
            </a:solidFill>
            <a:prstDash val="solid"/>
          </a:ln>
          <a:effectLst>
            <a:outerShdw blurRad="76200" dist="25400" dir="5400000" algn="bl" rotWithShape="0">
              <a:srgbClr val="12262B">
                <a:alpha val="16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6583680" y="4818888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C8C90"/>
                </a:solidFill>
              </a:rPr>
              <a:t>Ethical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9052560" y="48463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262B"/>
                </a:solidFill>
              </a:rPr>
              <a:t>Health data, small cohort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9052560" y="53035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7C8C90"/>
                </a:solidFill>
              </a:rPr>
              <a:t>bias across age, sex, body type; re-identification</a:t>
            </a:r>
            <a:endParaRPr lang="en-US" sz="1150" dirty="0"/>
          </a:p>
        </p:txBody>
      </p:sp>
      <p:sp>
        <p:nvSpPr>
          <p:cNvPr id="21" name="Text 1"/>
          <p:cNvSpPr>
            <a:spLocks noGrp="1"/>
          </p:cNvSpPr>
          <p:nvPr>
            <p:ph idx="102" hasCustomPrompt="1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r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6576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Risks, ethics and next steps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640080" y="1463040"/>
            <a:ext cx="3520440" cy="457200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9525">
            <a:solidFill>
              <a:srgbClr val="D3DADA"/>
            </a:solidFill>
            <a:prstDash val="solid"/>
          </a:ln>
          <a:effectLst>
            <a:outerShdw blurRad="76200" dist="25400" dir="5400000" algn="bl" rotWithShape="0">
              <a:srgbClr val="12262B">
                <a:alpha val="16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841248" y="1691640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D69A2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1280160" y="16459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and evaluation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331720"/>
            <a:ext cx="31089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12262B"/>
                </a:solidFill>
              </a:rPr>
              <a:t>9 lab subjects, mostly young adults, 1 female</a:t>
            </a:r>
            <a:endParaRPr lang="en-US" sz="1350" dirty="0"/>
          </a:p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12262B"/>
                </a:solidFill>
              </a:rPr>
              <a:t>Gate uses a seen-subject split; LOSO is the planned gate</a:t>
            </a:r>
            <a:endParaRPr lang="en-US" sz="1350" dirty="0"/>
          </a:p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12262B"/>
                </a:solidFill>
              </a:rPr>
              <a:t>Class imbalance, so macro-F1 and per-class reports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4343400" y="1463040"/>
            <a:ext cx="3520440" cy="457200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9525">
            <a:solidFill>
              <a:srgbClr val="D3DADA"/>
            </a:solidFill>
            <a:prstDash val="solid"/>
          </a:ln>
          <a:effectLst>
            <a:outerShdw blurRad="76200" dist="25400" dir="5400000" algn="bl" rotWithShape="0">
              <a:srgbClr val="12262B">
                <a:alpha val="1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44568" y="1691640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E8583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983480" y="16459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Ethics and privacy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4572000" y="2331720"/>
            <a:ext cx="31089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12262B"/>
                </a:solidFill>
              </a:rPr>
              <a:t>Fitness estimate only: no medical, insurance or hiring use</a:t>
            </a:r>
            <a:endParaRPr lang="en-US" sz="1350" dirty="0"/>
          </a:p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12262B"/>
                </a:solidFill>
              </a:rPr>
              <a:t>Not for identifying people from gait or heart rate</a:t>
            </a:r>
            <a:endParaRPr lang="en-US" sz="1350" dirty="0"/>
          </a:p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12262B"/>
                </a:solidFill>
              </a:rPr>
              <a:t>Heart rate is health data under CCPA / GDPR Art. 9; data is pseudonymous, not anonymous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8046720" y="1463040"/>
            <a:ext cx="3520440" cy="457200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9525">
            <a:solidFill>
              <a:srgbClr val="D3DADA"/>
            </a:solidFill>
            <a:prstDash val="solid"/>
          </a:ln>
          <a:effectLst>
            <a:outerShdw blurRad="76200" dist="25400" dir="5400000" algn="bl" rotWithShape="0">
              <a:srgbClr val="12262B">
                <a:alpha val="1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8247888" y="1691640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2E8B63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686800" y="16459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improvements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8275320" y="2331720"/>
            <a:ext cx="31089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12262B"/>
                </a:solidFill>
              </a:rPr>
              <a:t>LOSO gate + more diverse data, per-user fine-tuning</a:t>
            </a:r>
            <a:endParaRPr lang="en-US" sz="1350" dirty="0"/>
          </a:p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12262B"/>
                </a:solidFill>
              </a:rPr>
              <a:t>HPO step, 1-D CNN / LSTM, HR-based intensity</a:t>
            </a:r>
            <a:endParaRPr lang="en-US" sz="1350" dirty="0"/>
          </a:p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12262B"/>
                </a:solidFill>
              </a:rPr>
              <a:t>GitHub Actions CI, EventBridge retraining on alarms, real-time endpoint</a:t>
            </a:r>
            <a:endParaRPr lang="en-US" sz="1350" dirty="0"/>
          </a:p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12262B"/>
                </a:solidFill>
              </a:rPr>
              <a:t>KMS, least-privilege IAM, CloudTrail, per-subject deletion</a:t>
            </a:r>
            <a:endParaRPr lang="en-US" sz="1350" dirty="0"/>
          </a:p>
        </p:txBody>
      </p:sp>
      <p:sp>
        <p:nvSpPr>
          <p:cNvPr id="16" name="Text 1"/>
          <p:cNvSpPr>
            <a:spLocks noGrp="1"/>
          </p:cNvSpPr>
          <p:nvPr>
            <p:ph idx="102" hasCustomPrompt="1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r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6576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built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640080" y="1554480"/>
            <a:ext cx="5349240" cy="1600200"/>
          </a:xfrm>
          <a:prstGeom prst="roundRect">
            <a:avLst>
              <a:gd name="adj" fmla="val 5714"/>
            </a:avLst>
          </a:prstGeom>
          <a:solidFill>
            <a:srgbClr val="1D3A4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914400" y="173736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5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Reproducible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28600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E4EBEA"/>
                </a:solidFill>
              </a:rPr>
              <a:t>Cloud pipeline from raw files to registered model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217920" y="1554480"/>
            <a:ext cx="5349240" cy="1600200"/>
          </a:xfrm>
          <a:prstGeom prst="roundRect">
            <a:avLst>
              <a:gd name="adj" fmla="val 5714"/>
            </a:avLst>
          </a:prstGeom>
          <a:solidFill>
            <a:srgbClr val="1D3A4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492240" y="173736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5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Gated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6492240" y="228600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E4EBEA"/>
                </a:solidFill>
              </a:rPr>
              <a:t>macro-F1 threshold blocks bad models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40080" y="3383280"/>
            <a:ext cx="5349240" cy="1600200"/>
          </a:xfrm>
          <a:prstGeom prst="roundRect">
            <a:avLst>
              <a:gd name="adj" fmla="val 5714"/>
            </a:avLst>
          </a:prstGeom>
          <a:solidFill>
            <a:srgbClr val="1D3A4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914400" y="356616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5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Observed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411480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E4EBEA"/>
                </a:solidFill>
              </a:rPr>
              <a:t>Data, model, pipeline and infrastructure monitors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217920" y="3383280"/>
            <a:ext cx="5349240" cy="1600200"/>
          </a:xfrm>
          <a:prstGeom prst="roundRect">
            <a:avLst>
              <a:gd name="adj" fmla="val 5714"/>
            </a:avLst>
          </a:prstGeom>
          <a:solidFill>
            <a:srgbClr val="1D3A4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492240" y="356616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5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6492240" y="411480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E4EBEA"/>
                </a:solidFill>
              </a:rPr>
              <a:t>Seen-subject limits stated, LOSO planned as the gate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640080" y="544068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3200" dirty="0"/>
          </a:p>
        </p:txBody>
      </p:sp>
      <p:sp>
        <p:nvSpPr>
          <p:cNvPr id="17" name="Text 14"/>
          <p:cNvSpPr txBox="1"/>
          <p:nvPr/>
        </p:nvSpPr>
        <p:spPr>
          <a:xfrm>
            <a:off x="640080" y="6126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C8C90"/>
                </a:solidFill>
              </a:rPr>
              <a:t>Group 5  ·  AAI-540</a:t>
            </a:r>
            <a:endParaRPr lang="en-US" sz="1200" dirty="0"/>
          </a:p>
        </p:txBody>
      </p:sp>
      <p:sp>
        <p:nvSpPr>
          <p:cNvPr id="18" name="Text 0"/>
          <p:cNvSpPr>
            <a:spLocks noGrp="1"/>
          </p:cNvSpPr>
          <p:nvPr>
            <p:ph idx="101" hasCustomPrompt="1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r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MAP2 HAR v2">
  <a:themeElements>
    <a:clrScheme name="PAMAP2 HAR v2">
      <a:dk1>
        <a:srgbClr val="12262B"/>
      </a:dk1>
      <a:lt1>
        <a:srgbClr val="FFFFFF"/>
      </a:lt1>
      <a:dk2>
        <a:srgbClr val="0B1A1E"/>
      </a:dk2>
      <a:lt2>
        <a:srgbClr val="F3F5F4"/>
      </a:lt2>
      <a:accent1>
        <a:srgbClr val="E8583A"/>
      </a:accent1>
      <a:accent2>
        <a:srgbClr val="2E8B63"/>
      </a:accent2>
      <a:accent3>
        <a:srgbClr val="D69A22"/>
      </a:accent3>
      <a:accent4>
        <a:srgbClr val="3F8FA6"/>
      </a:accent4>
      <a:accent5>
        <a:srgbClr val="7C8C90"/>
      </a:accent5>
      <a:accent6>
        <a:srgbClr val="1D3A42"/>
      </a:accent6>
      <a:hlink>
        <a:srgbClr val="E8583A"/>
      </a:hlink>
      <a:folHlink>
        <a:srgbClr val="D69A22"/>
      </a:folHlink>
    </a:clrScheme>
    <a:fontScheme name="PAMAP2 HAR v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1794</Words>
  <Application>Microsoft Office PowerPoint</Application>
  <PresentationFormat>Widescreen</PresentationFormat>
  <Paragraphs>294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Cambria</vt:lpstr>
      <vt:lpstr>Courier New</vt:lpstr>
      <vt:lpstr>PAMAP2 HAR v2</vt:lpstr>
      <vt:lpstr>Wearable Sensor-Based Sports Activity Recognition</vt:lpstr>
      <vt:lpstr>Raw sensor streams don’t say what someone did, or how hard</vt:lpstr>
      <vt:lpstr>PAMAP2: a well-benchmarked, multimodal activity dataset</vt:lpstr>
      <vt:lpstr>Solution architecture on AWS SageMaker</vt:lpstr>
      <vt:lpstr>Data engineering: from raw files to model-ready windows</vt:lpstr>
      <vt:lpstr>Features and the intensity mapping</vt:lpstr>
      <vt:lpstr>Feature Store and the train / test / production split</vt:lpstr>
      <vt:lpstr>Modeling approach: a benchmark first, then a real model</vt:lpstr>
      <vt:lpstr>Results: XGBoost clears the gate by a wide margin</vt:lpstr>
      <vt:lpstr>CI/CD pipeline: the gate fails closed</vt:lpstr>
      <vt:lpstr>Model registry and model card</vt:lpstr>
      <vt:lpstr>Batch inference: a prediction for every production window</vt:lpstr>
      <vt:lpstr>Monitoring: data, model, pipeline and infrastructure</vt:lpstr>
      <vt:lpstr>Difficult issues we hit during development</vt:lpstr>
      <vt:lpstr>Risks, ethics and next steps</vt:lpstr>
      <vt:lpstr>What we built</vt:lpstr>
    </vt:vector>
  </TitlesOfParts>
  <Company>AAI-540 Group 5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Wearable Sensor-Based Sports Activity Recognition</dc:title>
  <dc:subject>PptxGenJS Presentation</dc:subject>
  <dc:creator>PptxGenJS</dc:creator>
  <cp:lastModifiedBy>Nishchal P</cp:lastModifiedBy>
  <cp:revision>3</cp:revision>
  <dcterms:created xsi:type="dcterms:W3CDTF">2026-10-15T19:33:38Z</dcterms:created>
  <dcterms:modified xsi:type="dcterms:W3CDTF">2026-10-17T07:49:49Z</dcterms:modified>
</cp:coreProperties>
</file>